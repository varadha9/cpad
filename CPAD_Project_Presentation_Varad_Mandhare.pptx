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DevJourney, a personal developer portfolio built as a native mobile application with React Native and TypeScript. On the right is the actual Home screen running on the Android emulator. Over the next few minutes I will cover why I built it, how it is structured, what it contains, and how I validated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resume is static and limited to a page or two; my projects become bullet points and a reviewer cannot reach the code or the running product. A web portfolio helps, but it depends on a browser and someone opening a link. I wanted something I could hand over in a conversation: a native app where my profile, projects, journey, resume and contact are one tap apart. And because it is a real React Native app, the portfolio is itself evidence of my mobile development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the six objectives. First, present me as a developer: skills, education, certifications and achievements. Second, showcase projects in depth rather than as one-liners. Third, document my academic and technical journey. Fourth, make the resume instantly available inside the app. Fifth, make it easy to contact me. And sixth, an engineering objective: build it in TypeScript with a modular structure so it stays maintainable as I add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written in TypeScript on React Native 0.86.2, set up with the React Native Community CLI rather than Expo, so I work directly with the native Android and iOS projects. Navigation uses React Navigation with a bottom tab navigator and native stack navigators. I built and ran it through Android Studio, the Android emulator and Gradle, with the Xcode project included for iOS. The resume viewer uses react-native-pdf, and the code is versioned with Git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navigation architecture. A NavigationContainer wraps a bottom TabNavigator with four tabs: Home, Projects, Journey and Profile. Projects pushes a Project Details screen, and Profile pushes Contact and Resume, as native stack screens. On the right is the source structure. Reusable UI lives in components, colours and other shared values are centralised in constants, content such as projects and the journey sits in separate data files, and navigation and screens are their own modules. That separation means adding a project is a data change, not a UI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tab screens, captured from the emulator. Home introduces me, shows what I am currently building with, and lists selected work. Projects is the full catalogue of five projects, each with category, status and stack. Journey is a vertical timeline from school to today. Profile holds the about section, expertise, education, certifications and links, and it is the entry point to Contact and the Resume viewer. I can switch to the live app here if time permits.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currently showcases five projects spanning backend, full-stack, frontend, mobile and machine learning. HelpDesk is a Spring Boot and PostgreSQL ticketing system. FlowForge is a self-hosted workflow automation platform with a visual builder, conditional branching, webhook and scheduled triggers, email and WhatsApp actions, JWT auth and Redis-backed job processing. Spraylite is a Next.js storefront, Clip Vault is a React Native clipboard manager, and the MLOps Prediction API serves a model through FastAPI. Every project has its own detail page with source and demo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Journey screen tells two parallel stories. On the education side: The Bishop's School from 2009 to 2021, SM Choksey Junior College for HSC, and my B.Tech in IT at MIT ADT, specialising in software and mobile application development with a minor in UX design. On the technical side: Java first, then iOS in 2024, Android in 2025, frontend and then backend full-stack work, and currently cross-platform and immersive application development, which is where this project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features. Every project has a detail page with GitHub source and a live demo where one exists. The resume is bundled as a PDF and rendered inside the app with react-native-pdf, shown on the right. The contact form collects name, email and message and hands off to the device's email app; if no email app is installed it falls back to Gmail in the browser. Navigation combines bottom tabs with nested stacks, and the whole thing sits on the modular structure from the architecture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design, I deliberately redesigned the app around minimal product-design principles. It uses a dark theme and editorial typography with large headings, so hierarchy comes from type rather than decoration. Sections are numbered, separated by thin rules, and cards are kept minimal. Spacing is consistent throughout, interactive elements are marked with a subtle arrow indicator, and the bottom navigation is kept clean. The Project Details screen on the right shows most of these at once. This presentation follows the same visual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the app manually on the Android emulator across ten flows: navigation between all tabs and stacks, project pages, GitHub, live-demo and profile links, the resume viewer, the contact form including the Gmail fallback when no email app is installed, image rendering, and scrolling on the Journey timeline. On the static side, npx tsc --noEmit completed with no TypeScript errors, and a clean Android Gradle build completed successfully. The code is on GitHub; the main build landed in commit 899c7f5.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DevJourney brings together personal branding, project presentation, my academic journey and professional resources in one native mobile application, built with a maintainable TypeScript architecture and validated on Android. Next steps are a production Android release, iOS deployment, analytics to understand how it is used, more project integrations, and push notifications only if future features call for them. Thank you, I am happy to take questions or show the app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3" Type="http://schemas.openxmlformats.org/officeDocument/2006/relationships/hyperlink" Target="https://github.com/ipoonawala9/DevJourney" TargetMode="Externa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4" Type="http://schemas.openxmlformats.org/officeDocument/2006/relationships/slideLayout" Target="../slideLayouts/slideLayout1.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C"/>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1427510"/>
            <a:ext cx="88900" cy="88900"/>
          </a:xfrm>
          <a:prstGeom prst="rect">
            <a:avLst/>
          </a:prstGeom>
        </p:spPr>
      </p:pic>
      <p:sp>
        <p:nvSpPr>
          <p:cNvPr id="3" name="Text 0"/>
          <p:cNvSpPr/>
          <p:nvPr/>
        </p:nvSpPr>
        <p:spPr>
          <a:xfrm>
            <a:off x="1003300" y="1365300"/>
            <a:ext cx="461084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6FD4A0"/>
                </a:solidFill>
                <a:latin typeface="Arial" pitchFamily="34" charset="0"/>
                <a:ea typeface="Arial" pitchFamily="34" charset="-122"/>
                <a:cs typeface="Arial" pitchFamily="34" charset="-120"/>
              </a:rPr>
              <a:t>CROSS PLATFORM APP DEVELOPMENT JURY 1</a:t>
            </a:r>
            <a:endParaRPr lang="en-US" sz="1200" dirty="0"/>
          </a:p>
        </p:txBody>
      </p:sp>
      <p:sp>
        <p:nvSpPr>
          <p:cNvPr id="4" name="Text 1"/>
          <p:cNvSpPr/>
          <p:nvPr/>
        </p:nvSpPr>
        <p:spPr>
          <a:xfrm>
            <a:off x="812800" y="1832620"/>
            <a:ext cx="7914005" cy="1143000"/>
          </a:xfrm>
          <a:prstGeom prst="rect">
            <a:avLst/>
          </a:prstGeom>
          <a:noFill/>
          <a:ln/>
        </p:spPr>
        <p:txBody>
          <a:bodyPr wrap="square" lIns="0" tIns="0" rIns="0" bIns="0" rtlCol="0" anchor="t">
            <a:normAutofit/>
          </a:bodyPr>
          <a:lstStyle/>
          <a:p>
            <a:pPr algn="l" indent="0" marL="0">
              <a:lnSpc>
                <a:spcPts val="8800"/>
              </a:lnSpc>
              <a:buNone/>
            </a:pPr>
            <a:r>
              <a:rPr lang="en-US" sz="8800" b="1" spc="-300" kern="0" dirty="0">
                <a:solidFill>
                  <a:srgbClr val="F2F2EF"/>
                </a:solidFill>
                <a:latin typeface="Arial" pitchFamily="34" charset="0"/>
                <a:ea typeface="Arial" pitchFamily="34" charset="-122"/>
                <a:cs typeface="Arial" pitchFamily="34" charset="-120"/>
              </a:rPr>
              <a:t>DevPortfolio</a:t>
            </a:r>
            <a:endParaRPr lang="en-US" sz="8800" dirty="0"/>
          </a:p>
        </p:txBody>
      </p:sp>
      <p:sp>
        <p:nvSpPr>
          <p:cNvPr id="5" name="Text 2"/>
          <p:cNvSpPr/>
          <p:nvPr/>
        </p:nvSpPr>
        <p:spPr>
          <a:xfrm>
            <a:off x="812800" y="3204220"/>
            <a:ext cx="7914005"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A1A1A6"/>
                </a:solidFill>
                <a:latin typeface="Arial" pitchFamily="34" charset="0"/>
                <a:ea typeface="Arial" pitchFamily="34" charset="-122"/>
                <a:cs typeface="Arial" pitchFamily="34" charset="-120"/>
              </a:rPr>
              <a:t>Personal Developer Portfolio &amp; Interactive Resume</a:t>
            </a:r>
            <a:endParaRPr lang="en-US" sz="2200" dirty="0"/>
          </a:p>
          <a:p>
            <a:pPr algn="l" indent="0" marL="0">
              <a:lnSpc>
                <a:spcPts val="2750"/>
              </a:lnSpc>
              <a:buNone/>
            </a:pPr>
            <a:r>
              <a:rPr lang="en-US" sz="2200" dirty="0">
                <a:solidFill>
                  <a:srgbClr val="A1A1A6"/>
                </a:solidFill>
                <a:latin typeface="Arial" pitchFamily="34" charset="0"/>
                <a:ea typeface="Arial" pitchFamily="34" charset="-122"/>
                <a:cs typeface="Arial" pitchFamily="34" charset="-120"/>
              </a:rPr>
              <a:t>Mobile Application</a:t>
            </a:r>
            <a:endParaRPr lang="en-US" sz="2200" dirty="0"/>
          </a:p>
        </p:txBody>
      </p:sp>
      <p:pic>
        <p:nvPicPr>
          <p:cNvPr id="6" name="Image 1" descr="line">    </p:cNvPr>
          <p:cNvPicPr>
            <a:picLocks noChangeAspect="1"/>
          </p:cNvPicPr>
          <p:nvPr/>
        </p:nvPicPr>
        <p:blipFill>
          <a:blip r:embed="rId2"/>
          <a:srcRect l="0" r="0" t="0" b="0"/>
          <a:stretch/>
        </p:blipFill>
        <p:spPr>
          <a:xfrm>
            <a:off x="812800" y="4156720"/>
            <a:ext cx="4572000" cy="12700"/>
          </a:xfrm>
          <a:prstGeom prst="rect">
            <a:avLst/>
          </a:prstGeom>
        </p:spPr>
      </p:pic>
      <p:sp>
        <p:nvSpPr>
          <p:cNvPr id="7" name="Text 3"/>
          <p:cNvSpPr/>
          <p:nvPr/>
        </p:nvSpPr>
        <p:spPr>
          <a:xfrm>
            <a:off x="812800" y="4423420"/>
            <a:ext cx="45720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F2EF"/>
                </a:solidFill>
                <a:latin typeface="Arial" pitchFamily="34" charset="0"/>
                <a:ea typeface="Arial" pitchFamily="34" charset="-122"/>
                <a:cs typeface="Arial" pitchFamily="34" charset="-120"/>
              </a:rPr>
              <a:t>Varad Vikas Mandhare</a:t>
            </a:r>
            <a:endParaRPr lang="en-US" sz="1800" dirty="0"/>
          </a:p>
        </p:txBody>
      </p:sp>
      <p:sp>
        <p:nvSpPr>
          <p:cNvPr id="8" name="Text 4"/>
          <p:cNvSpPr/>
          <p:nvPr/>
        </p:nvSpPr>
        <p:spPr>
          <a:xfrm>
            <a:off x="812800" y="4794250"/>
            <a:ext cx="64008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1A1A6"/>
                </a:solidFill>
                <a:latin typeface="Arial" pitchFamily="34" charset="0"/>
                <a:ea typeface="Arial" pitchFamily="34" charset="-122"/>
                <a:cs typeface="Arial" pitchFamily="34" charset="-120"/>
              </a:rPr>
              <a:t>B.Tech Information Technology · MIT ADT University, Pune</a:t>
            </a:r>
            <a:endParaRPr lang="en-US" sz="1300" dirty="0"/>
          </a:p>
        </p:txBody>
      </p:sp>
      <p:sp>
        <p:nvSpPr>
          <p:cNvPr id="9" name="Text 5"/>
          <p:cNvSpPr/>
          <p:nvPr/>
        </p:nvSpPr>
        <p:spPr>
          <a:xfrm>
            <a:off x="812800" y="5279380"/>
            <a:ext cx="5486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React Native 0.86 · TypeScript · Android SDK</a:t>
            </a:r>
            <a:endParaRPr lang="en-US" sz="1200" dirty="0"/>
          </a:p>
        </p:txBody>
      </p:sp>
      <p:sp>
        <p:nvSpPr>
          <p:cNvPr id="10" name="Shape 6"/>
          <p:cNvSpPr/>
          <p:nvPr/>
        </p:nvSpPr>
        <p:spPr>
          <a:xfrm>
            <a:off x="9007475" y="885825"/>
            <a:ext cx="2368550" cy="5086350"/>
          </a:xfrm>
          <a:prstGeom prst="roundRect">
            <a:avLst>
              <a:gd name="adj" fmla="val 10590"/>
            </a:avLst>
          </a:prstGeom>
          <a:solidFill>
            <a:srgbClr val="050506"/>
          </a:solidFill>
          <a:ln w="6350">
            <a:solidFill>
              <a:srgbClr val="2A2A2E"/>
            </a:solidFill>
            <a:prstDash val="solid"/>
          </a:ln>
          <a:effectLst>
            <a:outerShdw sx="100000" sy="100000" kx="0" ky="0" algn="bl" rotWithShape="0" blurRad="762000" dist="254000" dir="5400000">
              <a:srgbClr val="000000">
                <a:alpha val="55000"/>
              </a:srgbClr>
            </a:outerShdw>
          </a:effectLst>
        </p:spPr>
      </p:sp>
      <p:pic>
        <p:nvPicPr>
          <p:cNvPr id="11" name="Image 2" descr="DevJourney Home screen">    </p:cNvPr>
          <p:cNvPicPr>
            <a:picLocks noChangeAspect="1"/>
          </p:cNvPicPr>
          <p:nvPr/>
        </p:nvPicPr>
        <p:blipFill>
          <a:blip r:embed="rId3"/>
          <a:srcRect l="0" r="0" t="10" b="10"/>
          <a:stretch/>
        </p:blipFill>
        <p:spPr>
          <a:xfrm>
            <a:off x="9074150" y="952500"/>
            <a:ext cx="2235200" cy="4953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8A8F"/>
                </a:solidFill>
                <a:latin typeface="Arial" pitchFamily="34" charset="0"/>
                <a:ea typeface="Arial" pitchFamily="34" charset="-122"/>
                <a:cs typeface="Arial" pitchFamily="34" charset="-120"/>
              </a:rPr>
              <a:t>02 — MOTIVATION</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100" kern="0" dirty="0">
                <a:solidFill>
                  <a:srgbClr val="F2F2EF"/>
                </a:solidFill>
                <a:latin typeface="Arial" pitchFamily="34" charset="0"/>
                <a:ea typeface="Arial" pitchFamily="34" charset="-122"/>
                <a:cs typeface="Arial" pitchFamily="34" charset="-120"/>
              </a:rPr>
              <a:t>One place for the whole story.</a:t>
            </a:r>
            <a:endParaRPr lang="en-US" sz="3600" dirty="0"/>
          </a:p>
        </p:txBody>
      </p:sp>
      <p:sp>
        <p:nvSpPr>
          <p:cNvPr id="4" name="Shape 2"/>
          <p:cNvSpPr/>
          <p:nvPr/>
        </p:nvSpPr>
        <p:spPr>
          <a:xfrm>
            <a:off x="812800" y="1916361"/>
            <a:ext cx="3318917" cy="0"/>
          </a:xfrm>
          <a:prstGeom prst="line">
            <a:avLst/>
          </a:prstGeom>
          <a:noFill/>
          <a:ln w="12700">
            <a:solidFill>
              <a:srgbClr val="2A2A2E"/>
            </a:solidFill>
            <a:prstDash val="solid"/>
          </a:ln>
        </p:spPr>
      </p:sp>
      <p:sp>
        <p:nvSpPr>
          <p:cNvPr id="5" name="Text 3"/>
          <p:cNvSpPr/>
          <p:nvPr/>
        </p:nvSpPr>
        <p:spPr>
          <a:xfrm>
            <a:off x="812800" y="2125911"/>
            <a:ext cx="34184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01</a:t>
            </a:r>
            <a:endParaRPr lang="en-US" sz="1200" dirty="0"/>
          </a:p>
        </p:txBody>
      </p:sp>
      <p:sp>
        <p:nvSpPr>
          <p:cNvPr id="6" name="Text 4"/>
          <p:cNvSpPr/>
          <p:nvPr/>
        </p:nvSpPr>
        <p:spPr>
          <a:xfrm>
            <a:off x="812800" y="2466231"/>
            <a:ext cx="3418484"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2F2EF"/>
                </a:solidFill>
                <a:latin typeface="Arial" pitchFamily="34" charset="0"/>
                <a:ea typeface="Arial" pitchFamily="34" charset="-122"/>
                <a:cs typeface="Arial" pitchFamily="34" charset="-120"/>
              </a:rPr>
              <a:t>Traditional resume</a:t>
            </a:r>
            <a:endParaRPr lang="en-US" sz="1900" dirty="0"/>
          </a:p>
        </p:txBody>
      </p:sp>
      <p:sp>
        <p:nvSpPr>
          <p:cNvPr id="7" name="Text 5"/>
          <p:cNvSpPr/>
          <p:nvPr/>
        </p:nvSpPr>
        <p:spPr>
          <a:xfrm>
            <a:off x="812800" y="2882751"/>
            <a:ext cx="3418484"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A1A1A6"/>
                </a:solidFill>
                <a:latin typeface="Arial" pitchFamily="34" charset="0"/>
                <a:ea typeface="Arial" pitchFamily="34" charset="-122"/>
                <a:cs typeface="Arial" pitchFamily="34" charset="-120"/>
              </a:rPr>
              <a:t>Static and length-limited. Production projects shrink to brief bullet points with no direct path to verified source code or running demos.</a:t>
            </a:r>
            <a:endParaRPr lang="en-US" sz="1400" dirty="0"/>
          </a:p>
        </p:txBody>
      </p:sp>
      <p:sp>
        <p:nvSpPr>
          <p:cNvPr id="8" name="Shape 6"/>
          <p:cNvSpPr/>
          <p:nvPr/>
        </p:nvSpPr>
        <p:spPr>
          <a:xfrm>
            <a:off x="4436517" y="1916361"/>
            <a:ext cx="3318966" cy="0"/>
          </a:xfrm>
          <a:prstGeom prst="line">
            <a:avLst/>
          </a:prstGeom>
          <a:noFill/>
          <a:ln w="12700">
            <a:solidFill>
              <a:srgbClr val="2A2A2E"/>
            </a:solidFill>
            <a:prstDash val="solid"/>
          </a:ln>
        </p:spPr>
      </p:sp>
      <p:sp>
        <p:nvSpPr>
          <p:cNvPr id="9" name="Text 7"/>
          <p:cNvSpPr/>
          <p:nvPr/>
        </p:nvSpPr>
        <p:spPr>
          <a:xfrm>
            <a:off x="4436517" y="2125911"/>
            <a:ext cx="34185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02</a:t>
            </a:r>
            <a:endParaRPr lang="en-US" sz="1200" dirty="0"/>
          </a:p>
        </p:txBody>
      </p:sp>
      <p:sp>
        <p:nvSpPr>
          <p:cNvPr id="10" name="Text 8"/>
          <p:cNvSpPr/>
          <p:nvPr/>
        </p:nvSpPr>
        <p:spPr>
          <a:xfrm>
            <a:off x="4436517" y="2466231"/>
            <a:ext cx="3418535"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2F2EF"/>
                </a:solidFill>
                <a:latin typeface="Arial" pitchFamily="34" charset="0"/>
                <a:ea typeface="Arial" pitchFamily="34" charset="-122"/>
                <a:cs typeface="Arial" pitchFamily="34" charset="-120"/>
              </a:rPr>
              <a:t>Web portfolio</a:t>
            </a:r>
            <a:endParaRPr lang="en-US" sz="1900" dirty="0"/>
          </a:p>
        </p:txBody>
      </p:sp>
      <p:sp>
        <p:nvSpPr>
          <p:cNvPr id="11" name="Text 9"/>
          <p:cNvSpPr/>
          <p:nvPr/>
        </p:nvSpPr>
        <p:spPr>
          <a:xfrm>
            <a:off x="4436517" y="2882751"/>
            <a:ext cx="3418535"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A1A1A6"/>
                </a:solidFill>
                <a:latin typeface="Arial" pitchFamily="34" charset="0"/>
                <a:ea typeface="Arial" pitchFamily="34" charset="-122"/>
                <a:cs typeface="Arial" pitchFamily="34" charset="-120"/>
              </a:rPr>
              <a:t>Depends on desktop browsers, active internet connectivity, and shared URLs. Not tailored for on-the-go interactions during technical juries.</a:t>
            </a:r>
            <a:endParaRPr lang="en-US" sz="1400" dirty="0"/>
          </a:p>
        </p:txBody>
      </p:sp>
      <p:sp>
        <p:nvSpPr>
          <p:cNvPr id="12" name="Shape 10"/>
          <p:cNvSpPr/>
          <p:nvPr/>
        </p:nvSpPr>
        <p:spPr>
          <a:xfrm>
            <a:off x="8060283" y="1916361"/>
            <a:ext cx="3318917" cy="0"/>
          </a:xfrm>
          <a:prstGeom prst="line">
            <a:avLst/>
          </a:prstGeom>
          <a:noFill/>
          <a:ln w="12700">
            <a:solidFill>
              <a:srgbClr val="6FD4A0"/>
            </a:solidFill>
            <a:prstDash val="solid"/>
          </a:ln>
        </p:spPr>
      </p:sp>
      <p:sp>
        <p:nvSpPr>
          <p:cNvPr id="13" name="Text 11"/>
          <p:cNvSpPr/>
          <p:nvPr/>
        </p:nvSpPr>
        <p:spPr>
          <a:xfrm>
            <a:off x="8060283" y="2125911"/>
            <a:ext cx="34184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03</a:t>
            </a:r>
            <a:endParaRPr lang="en-US" sz="1200" dirty="0"/>
          </a:p>
        </p:txBody>
      </p:sp>
      <p:sp>
        <p:nvSpPr>
          <p:cNvPr id="14" name="Text 12"/>
          <p:cNvSpPr/>
          <p:nvPr/>
        </p:nvSpPr>
        <p:spPr>
          <a:xfrm>
            <a:off x="8060283" y="2466231"/>
            <a:ext cx="3418484"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2F2EF"/>
                </a:solidFill>
                <a:latin typeface="Arial" pitchFamily="34" charset="0"/>
                <a:ea typeface="Arial" pitchFamily="34" charset="-122"/>
                <a:cs typeface="Arial" pitchFamily="34" charset="-120"/>
              </a:rPr>
              <a:t>DevPortfolio App</a:t>
            </a:r>
            <a:endParaRPr lang="en-US" sz="1900" dirty="0"/>
          </a:p>
        </p:txBody>
      </p:sp>
      <p:sp>
        <p:nvSpPr>
          <p:cNvPr id="15" name="Text 13"/>
          <p:cNvSpPr/>
          <p:nvPr/>
        </p:nvSpPr>
        <p:spPr>
          <a:xfrm>
            <a:off x="8060283" y="2882751"/>
            <a:ext cx="3418484"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A1A1A6"/>
                </a:solidFill>
                <a:latin typeface="Arial" pitchFamily="34" charset="0"/>
                <a:ea typeface="Arial" pitchFamily="34" charset="-122"/>
                <a:cs typeface="Arial" pitchFamily="34" charset="-120"/>
              </a:rPr>
              <a:t>A high-performance native Android app keeping profile, 24+ technical skills, 6 production projects, resume, and direct contact channels one tap apart.</a:t>
            </a:r>
            <a:endParaRPr lang="en-US" sz="1400" dirty="0"/>
          </a:p>
        </p:txBody>
      </p:sp>
      <p:sp>
        <p:nvSpPr>
          <p:cNvPr id="16" name="Shape 14"/>
          <p:cNvSpPr/>
          <p:nvPr/>
        </p:nvSpPr>
        <p:spPr>
          <a:xfrm>
            <a:off x="812800" y="5351165"/>
            <a:ext cx="10566400" cy="0"/>
          </a:xfrm>
          <a:prstGeom prst="line">
            <a:avLst/>
          </a:prstGeom>
          <a:noFill/>
          <a:ln w="6350">
            <a:solidFill>
              <a:srgbClr val="2A2A2E"/>
            </a:solidFill>
            <a:prstDash val="solid"/>
          </a:ln>
        </p:spPr>
      </p:sp>
      <p:pic>
        <p:nvPicPr>
          <p:cNvPr id="17" name="Image 0" descr="ellipse">    </p:cNvPr>
          <p:cNvPicPr>
            <a:picLocks noChangeAspect="1"/>
          </p:cNvPicPr>
          <p:nvPr/>
        </p:nvPicPr>
        <p:blipFill>
          <a:blip r:embed="rId1"/>
          <a:srcRect l="0" r="0" t="0" b="0"/>
          <a:stretch/>
        </p:blipFill>
        <p:spPr>
          <a:xfrm>
            <a:off x="812800" y="5655320"/>
            <a:ext cx="88900" cy="88900"/>
          </a:xfrm>
          <a:prstGeom prst="rect">
            <a:avLst/>
          </a:prstGeom>
        </p:spPr>
      </p:pic>
      <p:sp>
        <p:nvSpPr>
          <p:cNvPr id="18" name="Text 15"/>
          <p:cNvSpPr/>
          <p:nvPr/>
        </p:nvSpPr>
        <p:spPr>
          <a:xfrm>
            <a:off x="1028700" y="5557540"/>
            <a:ext cx="86868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F2EF"/>
                </a:solidFill>
                <a:latin typeface="Arial" pitchFamily="34" charset="0"/>
                <a:ea typeface="Arial" pitchFamily="34" charset="-122"/>
                <a:cs typeface="Arial" pitchFamily="34" charset="-120"/>
              </a:rPr>
              <a:t>Building it natively in React Native &amp; TypeScript makes the portfolio itself a working mobile engineering project.</a:t>
            </a:r>
            <a:endParaRPr lang="en-US" sz="1600" dirty="0"/>
          </a:p>
        </p:txBody>
      </p:sp>
      <p:sp>
        <p:nvSpPr>
          <p:cNvPr id="19" name="Text 16"/>
          <p:cNvSpPr/>
          <p:nvPr/>
        </p:nvSpPr>
        <p:spPr>
          <a:xfrm>
            <a:off x="812800" y="6236990"/>
            <a:ext cx="365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Arial" pitchFamily="34" charset="0"/>
                <a:ea typeface="Arial" pitchFamily="34" charset="-122"/>
                <a:cs typeface="Arial" pitchFamily="34" charset="-120"/>
              </a:rPr>
              <a:t>DevPortfolio · Varad Vikas Mandhare</a:t>
            </a:r>
            <a:endParaRPr lang="en-US" sz="1200" dirty="0"/>
          </a:p>
        </p:txBody>
      </p:sp>
      <p:sp>
        <p:nvSpPr>
          <p:cNvPr id="20" name="Text 17"/>
          <p:cNvSpPr/>
          <p:nvPr/>
        </p:nvSpPr>
        <p:spPr>
          <a:xfrm>
            <a:off x="10738991" y="6236990"/>
            <a:ext cx="6910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02 / 12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8A8F"/>
                </a:solidFill>
                <a:latin typeface="Arial" pitchFamily="34" charset="0"/>
                <a:ea typeface="Arial" pitchFamily="34" charset="-122"/>
                <a:cs typeface="Arial" pitchFamily="34" charset="-120"/>
              </a:rPr>
              <a:t>03 — OBJECTIVES</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100" kern="0" dirty="0">
                <a:solidFill>
                  <a:srgbClr val="F2F2EF"/>
                </a:solidFill>
                <a:latin typeface="Arial" pitchFamily="34" charset="0"/>
                <a:ea typeface="Arial" pitchFamily="34" charset="-122"/>
                <a:cs typeface="Arial" pitchFamily="34" charset="-120"/>
              </a:rPr>
              <a:t>Six goals, one application.</a:t>
            </a:r>
            <a:endParaRPr lang="en-US" sz="3600" dirty="0"/>
          </a:p>
        </p:txBody>
      </p:sp>
      <p:sp>
        <p:nvSpPr>
          <p:cNvPr id="4" name="Shape 2"/>
          <p:cNvSpPr/>
          <p:nvPr/>
        </p:nvSpPr>
        <p:spPr>
          <a:xfrm>
            <a:off x="815975" y="1913186"/>
            <a:ext cx="3414167" cy="1540371"/>
          </a:xfrm>
          <a:prstGeom prst="roundRect">
            <a:avLst>
              <a:gd name="adj" fmla="val 6390"/>
            </a:avLst>
          </a:prstGeom>
          <a:solidFill>
            <a:srgbClr val="17171A"/>
          </a:solidFill>
          <a:ln w="6350">
            <a:solidFill>
              <a:srgbClr val="2A2A2E"/>
            </a:solidFill>
            <a:prstDash val="solid"/>
          </a:ln>
        </p:spPr>
      </p:sp>
      <p:sp>
        <p:nvSpPr>
          <p:cNvPr id="5" name="Text 3"/>
          <p:cNvSpPr/>
          <p:nvPr/>
        </p:nvSpPr>
        <p:spPr>
          <a:xfrm>
            <a:off x="1047750" y="2144961"/>
            <a:ext cx="3039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01</a:t>
            </a:r>
            <a:endParaRPr lang="en-US" sz="1200" dirty="0"/>
          </a:p>
        </p:txBody>
      </p:sp>
      <p:sp>
        <p:nvSpPr>
          <p:cNvPr id="6" name="Text 4"/>
          <p:cNvSpPr/>
          <p:nvPr/>
        </p:nvSpPr>
        <p:spPr>
          <a:xfrm>
            <a:off x="1047750" y="2447181"/>
            <a:ext cx="310896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F2EF"/>
                </a:solidFill>
                <a:latin typeface="Arial" pitchFamily="34" charset="0"/>
                <a:ea typeface="Arial" pitchFamily="34" charset="-122"/>
                <a:cs typeface="Arial" pitchFamily="34" charset="-120"/>
              </a:rPr>
              <a:t>Present the developer</a:t>
            </a:r>
            <a:endParaRPr lang="en-US" sz="1700" dirty="0"/>
          </a:p>
        </p:txBody>
      </p:sp>
      <p:sp>
        <p:nvSpPr>
          <p:cNvPr id="7" name="Text 5"/>
          <p:cNvSpPr/>
          <p:nvPr/>
        </p:nvSpPr>
        <p:spPr>
          <a:xfrm>
            <a:off x="1047750" y="2795141"/>
            <a:ext cx="31089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Profile, verified academic credentials (CGPA 7.59), Class Representative leadership, and research paper.</a:t>
            </a:r>
            <a:endParaRPr lang="en-US" sz="1200" dirty="0"/>
          </a:p>
        </p:txBody>
      </p:sp>
      <p:sp>
        <p:nvSpPr>
          <p:cNvPr id="8" name="Shape 6"/>
          <p:cNvSpPr/>
          <p:nvPr/>
        </p:nvSpPr>
        <p:spPr>
          <a:xfrm>
            <a:off x="4388892" y="1913186"/>
            <a:ext cx="3414167" cy="1540371"/>
          </a:xfrm>
          <a:prstGeom prst="roundRect">
            <a:avLst>
              <a:gd name="adj" fmla="val 6390"/>
            </a:avLst>
          </a:prstGeom>
          <a:solidFill>
            <a:srgbClr val="17171A"/>
          </a:solidFill>
          <a:ln w="6350">
            <a:solidFill>
              <a:srgbClr val="2A2A2E"/>
            </a:solidFill>
            <a:prstDash val="solid"/>
          </a:ln>
        </p:spPr>
      </p:sp>
      <p:sp>
        <p:nvSpPr>
          <p:cNvPr id="9" name="Text 7"/>
          <p:cNvSpPr/>
          <p:nvPr/>
        </p:nvSpPr>
        <p:spPr>
          <a:xfrm>
            <a:off x="4620667" y="2144961"/>
            <a:ext cx="3039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02</a:t>
            </a:r>
            <a:endParaRPr lang="en-US" sz="1200" dirty="0"/>
          </a:p>
        </p:txBody>
      </p:sp>
      <p:sp>
        <p:nvSpPr>
          <p:cNvPr id="10" name="Text 8"/>
          <p:cNvSpPr/>
          <p:nvPr/>
        </p:nvSpPr>
        <p:spPr>
          <a:xfrm>
            <a:off x="4620667" y="2447181"/>
            <a:ext cx="310896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F2EF"/>
                </a:solidFill>
                <a:latin typeface="Arial" pitchFamily="34" charset="0"/>
                <a:ea typeface="Arial" pitchFamily="34" charset="-122"/>
                <a:cs typeface="Arial" pitchFamily="34" charset="-120"/>
              </a:rPr>
              <a:t>Showcase production work</a:t>
            </a:r>
            <a:endParaRPr lang="en-US" sz="1700" dirty="0"/>
          </a:p>
        </p:txBody>
      </p:sp>
      <p:sp>
        <p:nvSpPr>
          <p:cNvPr id="11" name="Text 9"/>
          <p:cNvSpPr/>
          <p:nvPr/>
        </p:nvSpPr>
        <p:spPr>
          <a:xfrm>
            <a:off x="4620667" y="2795141"/>
            <a:ext cx="31089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Six projects (ELEVARE, BookSphere, Stockify, CI/CD, CyberScope, Travel Agency) with architecture notes.</a:t>
            </a:r>
            <a:endParaRPr lang="en-US" sz="1200" dirty="0"/>
          </a:p>
        </p:txBody>
      </p:sp>
      <p:sp>
        <p:nvSpPr>
          <p:cNvPr id="12" name="Shape 10"/>
          <p:cNvSpPr/>
          <p:nvPr/>
        </p:nvSpPr>
        <p:spPr>
          <a:xfrm>
            <a:off x="7961809" y="1913186"/>
            <a:ext cx="3414216" cy="1540371"/>
          </a:xfrm>
          <a:prstGeom prst="roundRect">
            <a:avLst>
              <a:gd name="adj" fmla="val 6390"/>
            </a:avLst>
          </a:prstGeom>
          <a:solidFill>
            <a:srgbClr val="17171A"/>
          </a:solidFill>
          <a:ln w="6350">
            <a:solidFill>
              <a:srgbClr val="2A2A2E"/>
            </a:solidFill>
            <a:prstDash val="solid"/>
          </a:ln>
        </p:spPr>
      </p:sp>
      <p:sp>
        <p:nvSpPr>
          <p:cNvPr id="13" name="Text 11"/>
          <p:cNvSpPr/>
          <p:nvPr/>
        </p:nvSpPr>
        <p:spPr>
          <a:xfrm>
            <a:off x="8193584" y="2144961"/>
            <a:ext cx="30391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03</a:t>
            </a:r>
            <a:endParaRPr lang="en-US" sz="1200" dirty="0"/>
          </a:p>
        </p:txBody>
      </p:sp>
      <p:sp>
        <p:nvSpPr>
          <p:cNvPr id="14" name="Text 12"/>
          <p:cNvSpPr/>
          <p:nvPr/>
        </p:nvSpPr>
        <p:spPr>
          <a:xfrm>
            <a:off x="8193584" y="2447181"/>
            <a:ext cx="310896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F2EF"/>
                </a:solidFill>
                <a:latin typeface="Arial" pitchFamily="34" charset="0"/>
                <a:ea typeface="Arial" pitchFamily="34" charset="-122"/>
                <a:cs typeface="Arial" pitchFamily="34" charset="-120"/>
              </a:rPr>
              <a:t>Demonstrate technical skills</a:t>
            </a:r>
            <a:endParaRPr lang="en-US" sz="1700" dirty="0"/>
          </a:p>
        </p:txBody>
      </p:sp>
      <p:sp>
        <p:nvSpPr>
          <p:cNvPr id="15" name="Text 13"/>
          <p:cNvSpPr/>
          <p:nvPr/>
        </p:nvSpPr>
        <p:spPr>
          <a:xfrm>
            <a:off x="8193584" y="2795141"/>
            <a:ext cx="31089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24+ skills across 6 domains with animated progress bars built via React Native Animated API.</a:t>
            </a:r>
            <a:endParaRPr lang="en-US" sz="1200" dirty="0"/>
          </a:p>
        </p:txBody>
      </p:sp>
      <p:sp>
        <p:nvSpPr>
          <p:cNvPr id="16" name="Shape 14"/>
          <p:cNvSpPr/>
          <p:nvPr/>
        </p:nvSpPr>
        <p:spPr>
          <a:xfrm>
            <a:off x="815975" y="3612307"/>
            <a:ext cx="3414167" cy="1540371"/>
          </a:xfrm>
          <a:prstGeom prst="roundRect">
            <a:avLst>
              <a:gd name="adj" fmla="val 6390"/>
            </a:avLst>
          </a:prstGeom>
          <a:solidFill>
            <a:srgbClr val="17171A"/>
          </a:solidFill>
          <a:ln w="6350">
            <a:solidFill>
              <a:srgbClr val="2A2A2E"/>
            </a:solidFill>
            <a:prstDash val="solid"/>
          </a:ln>
        </p:spPr>
      </p:sp>
      <p:sp>
        <p:nvSpPr>
          <p:cNvPr id="17" name="Text 15"/>
          <p:cNvSpPr/>
          <p:nvPr/>
        </p:nvSpPr>
        <p:spPr>
          <a:xfrm>
            <a:off x="1047750" y="3844082"/>
            <a:ext cx="3039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04</a:t>
            </a:r>
            <a:endParaRPr lang="en-US" sz="1200" dirty="0"/>
          </a:p>
        </p:txBody>
      </p:sp>
      <p:sp>
        <p:nvSpPr>
          <p:cNvPr id="18" name="Text 16"/>
          <p:cNvSpPr/>
          <p:nvPr/>
        </p:nvSpPr>
        <p:spPr>
          <a:xfrm>
            <a:off x="1047750" y="4146302"/>
            <a:ext cx="310896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F2EF"/>
                </a:solidFill>
                <a:latin typeface="Arial" pitchFamily="34" charset="0"/>
                <a:ea typeface="Arial" pitchFamily="34" charset="-122"/>
                <a:cs typeface="Arial" pitchFamily="34" charset="-120"/>
              </a:rPr>
              <a:t>Instant resume access</a:t>
            </a:r>
            <a:endParaRPr lang="en-US" sz="1700" dirty="0"/>
          </a:p>
        </p:txBody>
      </p:sp>
      <p:sp>
        <p:nvSpPr>
          <p:cNvPr id="19" name="Text 17"/>
          <p:cNvSpPr/>
          <p:nvPr/>
        </p:nvSpPr>
        <p:spPr>
          <a:xfrm>
            <a:off x="1047750" y="4494262"/>
            <a:ext cx="31089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In-app digital resume card with one-tap link to download and view the official PDF document.</a:t>
            </a:r>
            <a:endParaRPr lang="en-US" sz="1200" dirty="0"/>
          </a:p>
        </p:txBody>
      </p:sp>
      <p:sp>
        <p:nvSpPr>
          <p:cNvPr id="20" name="Shape 18"/>
          <p:cNvSpPr/>
          <p:nvPr/>
        </p:nvSpPr>
        <p:spPr>
          <a:xfrm>
            <a:off x="4388892" y="3612307"/>
            <a:ext cx="3414167" cy="1540371"/>
          </a:xfrm>
          <a:prstGeom prst="roundRect">
            <a:avLst>
              <a:gd name="adj" fmla="val 6390"/>
            </a:avLst>
          </a:prstGeom>
          <a:solidFill>
            <a:srgbClr val="17171A"/>
          </a:solidFill>
          <a:ln w="6350">
            <a:solidFill>
              <a:srgbClr val="2A2A2E"/>
            </a:solidFill>
            <a:prstDash val="solid"/>
          </a:ln>
        </p:spPr>
      </p:sp>
      <p:sp>
        <p:nvSpPr>
          <p:cNvPr id="21" name="Text 19"/>
          <p:cNvSpPr/>
          <p:nvPr/>
        </p:nvSpPr>
        <p:spPr>
          <a:xfrm>
            <a:off x="4620667" y="3844082"/>
            <a:ext cx="3039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05</a:t>
            </a:r>
            <a:endParaRPr lang="en-US" sz="1200" dirty="0"/>
          </a:p>
        </p:txBody>
      </p:sp>
      <p:sp>
        <p:nvSpPr>
          <p:cNvPr id="22" name="Text 20"/>
          <p:cNvSpPr/>
          <p:nvPr/>
        </p:nvSpPr>
        <p:spPr>
          <a:xfrm>
            <a:off x="4620667" y="4146302"/>
            <a:ext cx="310896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F2EF"/>
                </a:solidFill>
                <a:latin typeface="Arial" pitchFamily="34" charset="0"/>
                <a:ea typeface="Arial" pitchFamily="34" charset="-122"/>
                <a:cs typeface="Arial" pitchFamily="34" charset="-120"/>
              </a:rPr>
              <a:t>Make contact effortless</a:t>
            </a:r>
            <a:endParaRPr lang="en-US" sz="1700" dirty="0"/>
          </a:p>
        </p:txBody>
      </p:sp>
      <p:sp>
        <p:nvSpPr>
          <p:cNvPr id="23" name="Text 21"/>
          <p:cNvSpPr/>
          <p:nvPr/>
        </p:nvSpPr>
        <p:spPr>
          <a:xfrm>
            <a:off x="4620667" y="4494262"/>
            <a:ext cx="31089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One-tap native phone dialing, email drafting, LinkedIn connection, and GitHub repository navigation.</a:t>
            </a:r>
            <a:endParaRPr lang="en-US" sz="1200" dirty="0"/>
          </a:p>
        </p:txBody>
      </p:sp>
      <p:sp>
        <p:nvSpPr>
          <p:cNvPr id="24" name="Shape 22"/>
          <p:cNvSpPr/>
          <p:nvPr/>
        </p:nvSpPr>
        <p:spPr>
          <a:xfrm>
            <a:off x="7961809" y="3612307"/>
            <a:ext cx="3414216" cy="1540371"/>
          </a:xfrm>
          <a:prstGeom prst="roundRect">
            <a:avLst>
              <a:gd name="adj" fmla="val 6390"/>
            </a:avLst>
          </a:prstGeom>
          <a:solidFill>
            <a:srgbClr val="17171A"/>
          </a:solidFill>
          <a:ln w="6350">
            <a:solidFill>
              <a:srgbClr val="2A2A2E"/>
            </a:solidFill>
            <a:prstDash val="solid"/>
          </a:ln>
        </p:spPr>
      </p:sp>
      <p:sp>
        <p:nvSpPr>
          <p:cNvPr id="25" name="Text 23"/>
          <p:cNvSpPr/>
          <p:nvPr/>
        </p:nvSpPr>
        <p:spPr>
          <a:xfrm>
            <a:off x="8193584" y="3844082"/>
            <a:ext cx="30391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06</a:t>
            </a:r>
            <a:endParaRPr lang="en-US" sz="1200" dirty="0"/>
          </a:p>
        </p:txBody>
      </p:sp>
      <p:sp>
        <p:nvSpPr>
          <p:cNvPr id="26" name="Text 24"/>
          <p:cNvSpPr/>
          <p:nvPr/>
        </p:nvSpPr>
        <p:spPr>
          <a:xfrm>
            <a:off x="8193584" y="4146302"/>
            <a:ext cx="310896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F2EF"/>
                </a:solidFill>
                <a:latin typeface="Arial" pitchFamily="34" charset="0"/>
                <a:ea typeface="Arial" pitchFamily="34" charset="-122"/>
                <a:cs typeface="Arial" pitchFamily="34" charset="-120"/>
              </a:rPr>
              <a:t>Engineering excellence</a:t>
            </a:r>
            <a:endParaRPr lang="en-US" sz="1700" dirty="0"/>
          </a:p>
        </p:txBody>
      </p:sp>
      <p:sp>
        <p:nvSpPr>
          <p:cNvPr id="27" name="Text 25"/>
          <p:cNvSpPr/>
          <p:nvPr/>
        </p:nvSpPr>
        <p:spPr>
          <a:xfrm>
            <a:off x="8193584" y="4494262"/>
            <a:ext cx="31089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TypeScript, modular screen design, decoupled data layer, and 100% Jest unit test suite.</a:t>
            </a:r>
            <a:endParaRPr lang="en-US" sz="1200" dirty="0"/>
          </a:p>
        </p:txBody>
      </p:sp>
      <p:sp>
        <p:nvSpPr>
          <p:cNvPr id="28" name="Text 26"/>
          <p:cNvSpPr/>
          <p:nvPr/>
        </p:nvSpPr>
        <p:spPr>
          <a:xfrm>
            <a:off x="812800" y="6236990"/>
            <a:ext cx="365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Arial" pitchFamily="34" charset="0"/>
                <a:ea typeface="Arial" pitchFamily="34" charset="-122"/>
                <a:cs typeface="Arial" pitchFamily="34" charset="-120"/>
              </a:rPr>
              <a:t>DevPortfolio · Varad Vikas Mandhare</a:t>
            </a:r>
            <a:endParaRPr lang="en-US" sz="1200" dirty="0"/>
          </a:p>
        </p:txBody>
      </p:sp>
      <p:sp>
        <p:nvSpPr>
          <p:cNvPr id="29" name="Text 27"/>
          <p:cNvSpPr/>
          <p:nvPr/>
        </p:nvSpPr>
        <p:spPr>
          <a:xfrm>
            <a:off x="10738991" y="6236990"/>
            <a:ext cx="6910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03 / 12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8A8F"/>
                </a:solidFill>
                <a:latin typeface="Arial" pitchFamily="34" charset="0"/>
                <a:ea typeface="Arial" pitchFamily="34" charset="-122"/>
                <a:cs typeface="Arial" pitchFamily="34" charset="-120"/>
              </a:rPr>
              <a:t>04 — TECHNOLOGY STACK</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100" kern="0" dirty="0">
                <a:solidFill>
                  <a:srgbClr val="F2F2EF"/>
                </a:solidFill>
                <a:latin typeface="Arial" pitchFamily="34" charset="0"/>
                <a:ea typeface="Arial" pitchFamily="34" charset="-122"/>
                <a:cs typeface="Arial" pitchFamily="34" charset="-120"/>
              </a:rPr>
              <a:t>Native tooling, end to end.</a:t>
            </a:r>
            <a:endParaRPr lang="en-US" sz="3600" dirty="0"/>
          </a:p>
        </p:txBody>
      </p:sp>
      <p:pic>
        <p:nvPicPr>
          <p:cNvPr id="4" name="Image 0" descr="Code">    </p:cNvPr>
          <p:cNvPicPr>
            <a:picLocks noChangeAspect="1"/>
          </p:cNvPicPr>
          <p:nvPr/>
        </p:nvPicPr>
        <p:blipFill>
          <a:blip r:embed="rId1"/>
          <a:srcRect l="0" r="0" t="0" b="0"/>
          <a:stretch/>
        </p:blipFill>
        <p:spPr>
          <a:xfrm>
            <a:off x="812800" y="1910011"/>
            <a:ext cx="228600" cy="228600"/>
          </a:xfrm>
          <a:prstGeom prst="rect">
            <a:avLst/>
          </a:prstGeom>
        </p:spPr>
      </p:pic>
      <p:sp>
        <p:nvSpPr>
          <p:cNvPr id="5" name="Text 2"/>
          <p:cNvSpPr/>
          <p:nvPr/>
        </p:nvSpPr>
        <p:spPr>
          <a:xfrm>
            <a:off x="1130300" y="1917650"/>
            <a:ext cx="56733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A8F"/>
                </a:solidFill>
                <a:latin typeface="Arial" pitchFamily="34" charset="0"/>
                <a:ea typeface="Arial" pitchFamily="34" charset="-122"/>
                <a:cs typeface="Arial" pitchFamily="34" charset="-120"/>
              </a:rPr>
              <a:t>CORE</a:t>
            </a:r>
            <a:endParaRPr lang="en-US" sz="1200" dirty="0"/>
          </a:p>
        </p:txBody>
      </p:sp>
      <p:sp>
        <p:nvSpPr>
          <p:cNvPr id="6" name="Shape 3"/>
          <p:cNvSpPr/>
          <p:nvPr/>
        </p:nvSpPr>
        <p:spPr>
          <a:xfrm>
            <a:off x="812800" y="2294186"/>
            <a:ext cx="2451100" cy="0"/>
          </a:xfrm>
          <a:prstGeom prst="line">
            <a:avLst/>
          </a:prstGeom>
          <a:noFill/>
          <a:ln w="6350">
            <a:solidFill>
              <a:srgbClr val="2A2A2E"/>
            </a:solidFill>
            <a:prstDash val="solid"/>
          </a:ln>
        </p:spPr>
      </p:sp>
      <p:sp>
        <p:nvSpPr>
          <p:cNvPr id="7" name="Text 4"/>
          <p:cNvSpPr/>
          <p:nvPr/>
        </p:nvSpPr>
        <p:spPr>
          <a:xfrm>
            <a:off x="812800" y="2411661"/>
            <a:ext cx="252463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React Native 0.86.2</a:t>
            </a:r>
            <a:endParaRPr lang="en-US" sz="1500" dirty="0"/>
          </a:p>
        </p:txBody>
      </p:sp>
      <p:sp>
        <p:nvSpPr>
          <p:cNvPr id="8" name="Shape 5"/>
          <p:cNvSpPr/>
          <p:nvPr/>
        </p:nvSpPr>
        <p:spPr>
          <a:xfrm>
            <a:off x="812800" y="2795836"/>
            <a:ext cx="2451100" cy="0"/>
          </a:xfrm>
          <a:prstGeom prst="line">
            <a:avLst/>
          </a:prstGeom>
          <a:noFill/>
          <a:ln w="6350">
            <a:solidFill>
              <a:srgbClr val="2A2A2E"/>
            </a:solidFill>
            <a:prstDash val="solid"/>
          </a:ln>
        </p:spPr>
      </p:sp>
      <p:sp>
        <p:nvSpPr>
          <p:cNvPr id="9" name="Text 6"/>
          <p:cNvSpPr/>
          <p:nvPr/>
        </p:nvSpPr>
        <p:spPr>
          <a:xfrm>
            <a:off x="812800" y="2913311"/>
            <a:ext cx="252463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TypeScript 5.8</a:t>
            </a:r>
            <a:endParaRPr lang="en-US" sz="1500" dirty="0"/>
          </a:p>
        </p:txBody>
      </p:sp>
      <p:sp>
        <p:nvSpPr>
          <p:cNvPr id="10" name="Shape 7"/>
          <p:cNvSpPr/>
          <p:nvPr/>
        </p:nvSpPr>
        <p:spPr>
          <a:xfrm>
            <a:off x="812800" y="3297486"/>
            <a:ext cx="2451100" cy="0"/>
          </a:xfrm>
          <a:prstGeom prst="line">
            <a:avLst/>
          </a:prstGeom>
          <a:noFill/>
          <a:ln w="6350">
            <a:solidFill>
              <a:srgbClr val="2A2A2E"/>
            </a:solidFill>
            <a:prstDash val="solid"/>
          </a:ln>
        </p:spPr>
      </p:sp>
      <p:sp>
        <p:nvSpPr>
          <p:cNvPr id="11" name="Text 8"/>
          <p:cNvSpPr/>
          <p:nvPr/>
        </p:nvSpPr>
        <p:spPr>
          <a:xfrm>
            <a:off x="812800" y="3414961"/>
            <a:ext cx="252463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React Native CLI</a:t>
            </a:r>
            <a:endParaRPr lang="en-US" sz="1500" dirty="0"/>
          </a:p>
        </p:txBody>
      </p:sp>
      <p:pic>
        <p:nvPicPr>
          <p:cNvPr id="12" name="Image 1" descr="Link">    </p:cNvPr>
          <p:cNvPicPr>
            <a:picLocks noChangeAspect="1"/>
          </p:cNvPicPr>
          <p:nvPr/>
        </p:nvPicPr>
        <p:blipFill>
          <a:blip r:embed="rId2"/>
          <a:srcRect l="0" r="0" t="0" b="0"/>
          <a:stretch/>
        </p:blipFill>
        <p:spPr>
          <a:xfrm>
            <a:off x="3517900" y="1910011"/>
            <a:ext cx="228600" cy="228600"/>
          </a:xfrm>
          <a:prstGeom prst="rect">
            <a:avLst/>
          </a:prstGeom>
        </p:spPr>
      </p:pic>
      <p:sp>
        <p:nvSpPr>
          <p:cNvPr id="13" name="Text 9"/>
          <p:cNvSpPr/>
          <p:nvPr/>
        </p:nvSpPr>
        <p:spPr>
          <a:xfrm>
            <a:off x="3835400" y="1917650"/>
            <a:ext cx="117544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A8F"/>
                </a:solidFill>
                <a:latin typeface="Arial" pitchFamily="34" charset="0"/>
                <a:ea typeface="Arial" pitchFamily="34" charset="-122"/>
                <a:cs typeface="Arial" pitchFamily="34" charset="-120"/>
              </a:rPr>
              <a:t>ARCHITECTURE</a:t>
            </a:r>
            <a:endParaRPr lang="en-US" sz="1200" dirty="0"/>
          </a:p>
        </p:txBody>
      </p:sp>
      <p:sp>
        <p:nvSpPr>
          <p:cNvPr id="14" name="Shape 10"/>
          <p:cNvSpPr/>
          <p:nvPr/>
        </p:nvSpPr>
        <p:spPr>
          <a:xfrm>
            <a:off x="3517900" y="2294186"/>
            <a:ext cx="2451100" cy="0"/>
          </a:xfrm>
          <a:prstGeom prst="line">
            <a:avLst/>
          </a:prstGeom>
          <a:noFill/>
          <a:ln w="6350">
            <a:solidFill>
              <a:srgbClr val="2A2A2E"/>
            </a:solidFill>
            <a:prstDash val="solid"/>
          </a:ln>
        </p:spPr>
      </p:sp>
      <p:sp>
        <p:nvSpPr>
          <p:cNvPr id="15" name="Text 11"/>
          <p:cNvSpPr/>
          <p:nvPr/>
        </p:nvSpPr>
        <p:spPr>
          <a:xfrm>
            <a:off x="3517900" y="2411661"/>
            <a:ext cx="252463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Continuous ScrollView</a:t>
            </a:r>
            <a:endParaRPr lang="en-US" sz="1500" dirty="0"/>
          </a:p>
        </p:txBody>
      </p:sp>
      <p:sp>
        <p:nvSpPr>
          <p:cNvPr id="16" name="Shape 12"/>
          <p:cNvSpPr/>
          <p:nvPr/>
        </p:nvSpPr>
        <p:spPr>
          <a:xfrm>
            <a:off x="3517900" y="2795836"/>
            <a:ext cx="2451100" cy="0"/>
          </a:xfrm>
          <a:prstGeom prst="line">
            <a:avLst/>
          </a:prstGeom>
          <a:noFill/>
          <a:ln w="6350">
            <a:solidFill>
              <a:srgbClr val="2A2A2E"/>
            </a:solidFill>
            <a:prstDash val="solid"/>
          </a:ln>
        </p:spPr>
      </p:sp>
      <p:sp>
        <p:nvSpPr>
          <p:cNvPr id="17" name="Text 13"/>
          <p:cNvSpPr/>
          <p:nvPr/>
        </p:nvSpPr>
        <p:spPr>
          <a:xfrm>
            <a:off x="3517900" y="2913311"/>
            <a:ext cx="252463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Sticky Top Navbar</a:t>
            </a:r>
            <a:endParaRPr lang="en-US" sz="1500" dirty="0"/>
          </a:p>
        </p:txBody>
      </p:sp>
      <p:sp>
        <p:nvSpPr>
          <p:cNvPr id="18" name="Shape 14"/>
          <p:cNvSpPr/>
          <p:nvPr/>
        </p:nvSpPr>
        <p:spPr>
          <a:xfrm>
            <a:off x="3517900" y="3297486"/>
            <a:ext cx="2451100" cy="0"/>
          </a:xfrm>
          <a:prstGeom prst="line">
            <a:avLst/>
          </a:prstGeom>
          <a:noFill/>
          <a:ln w="6350">
            <a:solidFill>
              <a:srgbClr val="2A2A2E"/>
            </a:solidFill>
            <a:prstDash val="solid"/>
          </a:ln>
        </p:spPr>
      </p:sp>
      <p:sp>
        <p:nvSpPr>
          <p:cNvPr id="19" name="Text 15"/>
          <p:cNvSpPr/>
          <p:nvPr/>
        </p:nvSpPr>
        <p:spPr>
          <a:xfrm>
            <a:off x="3517900" y="3414961"/>
            <a:ext cx="252463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Animated.timing API</a:t>
            </a:r>
            <a:endParaRPr lang="en-US" sz="1500" dirty="0"/>
          </a:p>
        </p:txBody>
      </p:sp>
      <p:pic>
        <p:nvPicPr>
          <p:cNvPr id="20" name="Image 2" descr="Wrench">    </p:cNvPr>
          <p:cNvPicPr>
            <a:picLocks noChangeAspect="1"/>
          </p:cNvPicPr>
          <p:nvPr/>
        </p:nvPicPr>
        <p:blipFill>
          <a:blip r:embed="rId3"/>
          <a:srcRect l="0" r="0" t="0" b="0"/>
          <a:stretch/>
        </p:blipFill>
        <p:spPr>
          <a:xfrm>
            <a:off x="6223000" y="1910011"/>
            <a:ext cx="228600" cy="228600"/>
          </a:xfrm>
          <a:prstGeom prst="rect">
            <a:avLst/>
          </a:prstGeom>
        </p:spPr>
      </p:pic>
      <p:sp>
        <p:nvSpPr>
          <p:cNvPr id="21" name="Text 16"/>
          <p:cNvSpPr/>
          <p:nvPr/>
        </p:nvSpPr>
        <p:spPr>
          <a:xfrm>
            <a:off x="6540500" y="1917650"/>
            <a:ext cx="185438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A8F"/>
                </a:solidFill>
                <a:latin typeface="Arial" pitchFamily="34" charset="0"/>
                <a:ea typeface="Arial" pitchFamily="34" charset="-122"/>
                <a:cs typeface="Arial" pitchFamily="34" charset="-120"/>
              </a:rPr>
              <a:t>PLATFORM &amp; BUILD</a:t>
            </a:r>
            <a:endParaRPr lang="en-US" sz="1200" dirty="0"/>
          </a:p>
        </p:txBody>
      </p:sp>
      <p:sp>
        <p:nvSpPr>
          <p:cNvPr id="22" name="Shape 17"/>
          <p:cNvSpPr/>
          <p:nvPr/>
        </p:nvSpPr>
        <p:spPr>
          <a:xfrm>
            <a:off x="6223000" y="2294186"/>
            <a:ext cx="2451100" cy="0"/>
          </a:xfrm>
          <a:prstGeom prst="line">
            <a:avLst/>
          </a:prstGeom>
          <a:noFill/>
          <a:ln w="6350">
            <a:solidFill>
              <a:srgbClr val="2A2A2E"/>
            </a:solidFill>
            <a:prstDash val="solid"/>
          </a:ln>
        </p:spPr>
      </p:sp>
      <p:sp>
        <p:nvSpPr>
          <p:cNvPr id="23" name="Text 18"/>
          <p:cNvSpPr/>
          <p:nvPr/>
        </p:nvSpPr>
        <p:spPr>
          <a:xfrm>
            <a:off x="6223000" y="2411661"/>
            <a:ext cx="252463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Android Studio &amp; SDK</a:t>
            </a:r>
            <a:endParaRPr lang="en-US" sz="1500" dirty="0"/>
          </a:p>
        </p:txBody>
      </p:sp>
      <p:sp>
        <p:nvSpPr>
          <p:cNvPr id="24" name="Shape 19"/>
          <p:cNvSpPr/>
          <p:nvPr/>
        </p:nvSpPr>
        <p:spPr>
          <a:xfrm>
            <a:off x="6223000" y="2795836"/>
            <a:ext cx="2451100" cy="0"/>
          </a:xfrm>
          <a:prstGeom prst="line">
            <a:avLst/>
          </a:prstGeom>
          <a:noFill/>
          <a:ln w="6350">
            <a:solidFill>
              <a:srgbClr val="2A2A2E"/>
            </a:solidFill>
            <a:prstDash val="solid"/>
          </a:ln>
        </p:spPr>
      </p:sp>
      <p:sp>
        <p:nvSpPr>
          <p:cNvPr id="25" name="Text 20"/>
          <p:cNvSpPr/>
          <p:nvPr/>
        </p:nvSpPr>
        <p:spPr>
          <a:xfrm>
            <a:off x="6223000" y="2913311"/>
            <a:ext cx="252463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Vivo 1919 (Android 12)</a:t>
            </a:r>
            <a:endParaRPr lang="en-US" sz="1500" dirty="0"/>
          </a:p>
        </p:txBody>
      </p:sp>
      <p:sp>
        <p:nvSpPr>
          <p:cNvPr id="26" name="Shape 21"/>
          <p:cNvSpPr/>
          <p:nvPr/>
        </p:nvSpPr>
        <p:spPr>
          <a:xfrm>
            <a:off x="6223000" y="3297486"/>
            <a:ext cx="2451100" cy="0"/>
          </a:xfrm>
          <a:prstGeom prst="line">
            <a:avLst/>
          </a:prstGeom>
          <a:noFill/>
          <a:ln w="6350">
            <a:solidFill>
              <a:srgbClr val="2A2A2E"/>
            </a:solidFill>
            <a:prstDash val="solid"/>
          </a:ln>
        </p:spPr>
      </p:sp>
      <p:sp>
        <p:nvSpPr>
          <p:cNvPr id="27" name="Text 22"/>
          <p:cNvSpPr/>
          <p:nvPr/>
        </p:nvSpPr>
        <p:spPr>
          <a:xfrm>
            <a:off x="6223000" y="3414961"/>
            <a:ext cx="252463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Gradle &amp; JDK 21</a:t>
            </a:r>
            <a:endParaRPr lang="en-US" sz="1500" dirty="0"/>
          </a:p>
        </p:txBody>
      </p:sp>
      <p:sp>
        <p:nvSpPr>
          <p:cNvPr id="28" name="Shape 23"/>
          <p:cNvSpPr/>
          <p:nvPr/>
        </p:nvSpPr>
        <p:spPr>
          <a:xfrm>
            <a:off x="6223000" y="3799136"/>
            <a:ext cx="2451100" cy="0"/>
          </a:xfrm>
          <a:prstGeom prst="line">
            <a:avLst/>
          </a:prstGeom>
          <a:noFill/>
          <a:ln w="6350">
            <a:solidFill>
              <a:srgbClr val="2A2A2E"/>
            </a:solidFill>
            <a:prstDash val="solid"/>
          </a:ln>
        </p:spPr>
      </p:sp>
      <p:sp>
        <p:nvSpPr>
          <p:cNvPr id="29" name="Text 24"/>
          <p:cNvSpPr/>
          <p:nvPr/>
        </p:nvSpPr>
        <p:spPr>
          <a:xfrm>
            <a:off x="6223000" y="3916611"/>
            <a:ext cx="252463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Bare CLI (No Expo)</a:t>
            </a:r>
            <a:endParaRPr lang="en-US" sz="1500" dirty="0"/>
          </a:p>
        </p:txBody>
      </p:sp>
      <p:pic>
        <p:nvPicPr>
          <p:cNvPr id="30" name="Image 3" descr="Tool">    </p:cNvPr>
          <p:cNvPicPr>
            <a:picLocks noChangeAspect="1"/>
          </p:cNvPicPr>
          <p:nvPr/>
        </p:nvPicPr>
        <p:blipFill>
          <a:blip r:embed="rId4"/>
          <a:srcRect l="0" r="0" t="0" b="0"/>
          <a:stretch/>
        </p:blipFill>
        <p:spPr>
          <a:xfrm>
            <a:off x="8928100" y="1910011"/>
            <a:ext cx="228600" cy="228600"/>
          </a:xfrm>
          <a:prstGeom prst="rect">
            <a:avLst/>
          </a:prstGeom>
        </p:spPr>
      </p:pic>
      <p:sp>
        <p:nvSpPr>
          <p:cNvPr id="31" name="Text 25"/>
          <p:cNvSpPr/>
          <p:nvPr/>
        </p:nvSpPr>
        <p:spPr>
          <a:xfrm>
            <a:off x="9245600" y="1917650"/>
            <a:ext cx="166598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A8F"/>
                </a:solidFill>
                <a:latin typeface="Arial" pitchFamily="34" charset="0"/>
                <a:ea typeface="Arial" pitchFamily="34" charset="-122"/>
                <a:cs typeface="Arial" pitchFamily="34" charset="-120"/>
              </a:rPr>
              <a:t>TESTING &amp; QA</a:t>
            </a:r>
            <a:endParaRPr lang="en-US" sz="1200" dirty="0"/>
          </a:p>
        </p:txBody>
      </p:sp>
      <p:sp>
        <p:nvSpPr>
          <p:cNvPr id="32" name="Shape 26"/>
          <p:cNvSpPr/>
          <p:nvPr/>
        </p:nvSpPr>
        <p:spPr>
          <a:xfrm>
            <a:off x="8928100" y="2294186"/>
            <a:ext cx="2451100" cy="0"/>
          </a:xfrm>
          <a:prstGeom prst="line">
            <a:avLst/>
          </a:prstGeom>
          <a:noFill/>
          <a:ln w="6350">
            <a:solidFill>
              <a:srgbClr val="2A2A2E"/>
            </a:solidFill>
            <a:prstDash val="solid"/>
          </a:ln>
        </p:spPr>
      </p:sp>
      <p:sp>
        <p:nvSpPr>
          <p:cNvPr id="33" name="Text 27"/>
          <p:cNvSpPr/>
          <p:nvPr/>
        </p:nvSpPr>
        <p:spPr>
          <a:xfrm>
            <a:off x="8928100" y="2411661"/>
            <a:ext cx="252463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Jest &amp; Test Renderer</a:t>
            </a:r>
            <a:endParaRPr lang="en-US" sz="1500" dirty="0"/>
          </a:p>
        </p:txBody>
      </p:sp>
      <p:sp>
        <p:nvSpPr>
          <p:cNvPr id="34" name="Shape 28"/>
          <p:cNvSpPr/>
          <p:nvPr/>
        </p:nvSpPr>
        <p:spPr>
          <a:xfrm>
            <a:off x="8928100" y="2795836"/>
            <a:ext cx="2451100" cy="0"/>
          </a:xfrm>
          <a:prstGeom prst="line">
            <a:avLst/>
          </a:prstGeom>
          <a:noFill/>
          <a:ln w="6350">
            <a:solidFill>
              <a:srgbClr val="2A2A2E"/>
            </a:solidFill>
            <a:prstDash val="solid"/>
          </a:ln>
        </p:spPr>
      </p:sp>
      <p:sp>
        <p:nvSpPr>
          <p:cNvPr id="35" name="Text 29"/>
          <p:cNvSpPr/>
          <p:nvPr/>
        </p:nvSpPr>
        <p:spPr>
          <a:xfrm>
            <a:off x="8928100" y="2913311"/>
            <a:ext cx="252463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ESLint (Zero warnings)</a:t>
            </a:r>
            <a:endParaRPr lang="en-US" sz="1500" dirty="0"/>
          </a:p>
        </p:txBody>
      </p:sp>
      <p:sp>
        <p:nvSpPr>
          <p:cNvPr id="36" name="Shape 30"/>
          <p:cNvSpPr/>
          <p:nvPr/>
        </p:nvSpPr>
        <p:spPr>
          <a:xfrm>
            <a:off x="8928100" y="3297486"/>
            <a:ext cx="2451100" cy="0"/>
          </a:xfrm>
          <a:prstGeom prst="line">
            <a:avLst/>
          </a:prstGeom>
          <a:noFill/>
          <a:ln w="6350">
            <a:solidFill>
              <a:srgbClr val="2A2A2E"/>
            </a:solidFill>
            <a:prstDash val="solid"/>
          </a:ln>
        </p:spPr>
      </p:sp>
      <p:sp>
        <p:nvSpPr>
          <p:cNvPr id="37" name="Text 31"/>
          <p:cNvSpPr/>
          <p:nvPr/>
        </p:nvSpPr>
        <p:spPr>
          <a:xfrm>
            <a:off x="8928100" y="3414961"/>
            <a:ext cx="252463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Git &amp; GitHub CI/CD</a:t>
            </a:r>
            <a:endParaRPr lang="en-US" sz="1500" dirty="0"/>
          </a:p>
        </p:txBody>
      </p:sp>
      <p:sp>
        <p:nvSpPr>
          <p:cNvPr id="38" name="Shape 32"/>
          <p:cNvSpPr/>
          <p:nvPr/>
        </p:nvSpPr>
        <p:spPr>
          <a:xfrm>
            <a:off x="815975" y="5398145"/>
            <a:ext cx="7498079" cy="440680"/>
          </a:xfrm>
          <a:prstGeom prst="roundRect">
            <a:avLst>
              <a:gd name="adj" fmla="val 50000"/>
            </a:avLst>
          </a:prstGeom>
          <a:noFill/>
          <a:ln w="6350">
            <a:solidFill>
              <a:srgbClr val="2A2A2E"/>
            </a:solidFill>
            <a:prstDash val="solid"/>
          </a:ln>
        </p:spPr>
      </p:sp>
      <p:pic>
        <p:nvPicPr>
          <p:cNvPr id="39" name="Image 4" descr="ellipse">    </p:cNvPr>
          <p:cNvPicPr>
            <a:picLocks noChangeAspect="1"/>
          </p:cNvPicPr>
          <p:nvPr/>
        </p:nvPicPr>
        <p:blipFill>
          <a:blip r:embed="rId5"/>
          <a:srcRect l="0" r="0" t="0" b="0"/>
          <a:stretch/>
        </p:blipFill>
        <p:spPr>
          <a:xfrm>
            <a:off x="1022350" y="5574010"/>
            <a:ext cx="88900" cy="88900"/>
          </a:xfrm>
          <a:prstGeom prst="rect">
            <a:avLst/>
          </a:prstGeom>
        </p:spPr>
      </p:pic>
      <p:sp>
        <p:nvSpPr>
          <p:cNvPr id="40" name="Text 33"/>
          <p:cNvSpPr/>
          <p:nvPr/>
        </p:nvSpPr>
        <p:spPr>
          <a:xfrm>
            <a:off x="1212850" y="5502920"/>
            <a:ext cx="68580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F2EF"/>
                </a:solidFill>
                <a:latin typeface="Arial" pitchFamily="34" charset="0"/>
                <a:ea typeface="Arial" pitchFamily="34" charset="-122"/>
                <a:cs typeface="Arial" pitchFamily="34" charset="-120"/>
              </a:rPr>
              <a:t>Bare React Native Community CLI workflow · Zero Expo bloat · Native Android SDK</a:t>
            </a:r>
            <a:endParaRPr lang="en-US" sz="1300" dirty="0"/>
          </a:p>
        </p:txBody>
      </p:sp>
      <p:sp>
        <p:nvSpPr>
          <p:cNvPr id="41" name="Text 34"/>
          <p:cNvSpPr/>
          <p:nvPr/>
        </p:nvSpPr>
        <p:spPr>
          <a:xfrm>
            <a:off x="812800" y="6236990"/>
            <a:ext cx="365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Arial" pitchFamily="34" charset="0"/>
                <a:ea typeface="Arial" pitchFamily="34" charset="-122"/>
                <a:cs typeface="Arial" pitchFamily="34" charset="-120"/>
              </a:rPr>
              <a:t>DevPortfolio · Varad Vikas Mandhare</a:t>
            </a:r>
            <a:endParaRPr lang="en-US" sz="1200" dirty="0"/>
          </a:p>
        </p:txBody>
      </p:sp>
      <p:sp>
        <p:nvSpPr>
          <p:cNvPr id="42" name="Text 35"/>
          <p:cNvSpPr/>
          <p:nvPr/>
        </p:nvSpPr>
        <p:spPr>
          <a:xfrm>
            <a:off x="10738991" y="6236990"/>
            <a:ext cx="6910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04 / 12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8A8F"/>
                </a:solidFill>
                <a:latin typeface="Arial" pitchFamily="34" charset="0"/>
                <a:ea typeface="Arial" pitchFamily="34" charset="-122"/>
                <a:cs typeface="Arial" pitchFamily="34" charset="-120"/>
              </a:rPr>
              <a:t>05 — SYSTEM ARCHITECTURE</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100" kern="0" dirty="0">
                <a:solidFill>
                  <a:srgbClr val="F2F2EF"/>
                </a:solidFill>
                <a:latin typeface="Arial" pitchFamily="34" charset="0"/>
                <a:ea typeface="Arial" pitchFamily="34" charset="-122"/>
                <a:cs typeface="Arial" pitchFamily="34" charset="-120"/>
              </a:rPr>
              <a:t>Unified scroll flow with dynamic navigation.</a:t>
            </a:r>
            <a:endParaRPr lang="en-US" sz="3600" dirty="0"/>
          </a:p>
        </p:txBody>
      </p:sp>
      <p:sp>
        <p:nvSpPr>
          <p:cNvPr id="4" name="Shape 2"/>
          <p:cNvSpPr/>
          <p:nvPr/>
        </p:nvSpPr>
        <p:spPr>
          <a:xfrm>
            <a:off x="2847975" y="1908175"/>
            <a:ext cx="2533650" cy="400050"/>
          </a:xfrm>
          <a:prstGeom prst="roundRect">
            <a:avLst>
              <a:gd name="adj" fmla="val 18254"/>
            </a:avLst>
          </a:prstGeom>
          <a:solidFill>
            <a:srgbClr val="122018"/>
          </a:solidFill>
          <a:ln w="6350">
            <a:solidFill>
              <a:srgbClr val="6FD4A0"/>
            </a:solidFill>
            <a:prstDash val="solid"/>
          </a:ln>
        </p:spPr>
      </p:sp>
      <p:sp>
        <p:nvSpPr>
          <p:cNvPr id="5" name="Text 3"/>
          <p:cNvSpPr/>
          <p:nvPr/>
        </p:nvSpPr>
        <p:spPr>
          <a:xfrm>
            <a:off x="3219876" y="2001540"/>
            <a:ext cx="20116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SafeAreaProvider</a:t>
            </a:r>
            <a:endParaRPr lang="en-US" sz="1200" dirty="0"/>
          </a:p>
        </p:txBody>
      </p:sp>
      <p:pic>
        <p:nvPicPr>
          <p:cNvPr id="6" name="Image 0" descr="connector">    </p:cNvPr>
          <p:cNvPicPr>
            <a:picLocks noChangeAspect="1"/>
          </p:cNvPicPr>
          <p:nvPr/>
        </p:nvPicPr>
        <p:blipFill>
          <a:blip r:embed="rId1"/>
          <a:srcRect l="0" r="0" t="0" b="0"/>
          <a:stretch/>
        </p:blipFill>
        <p:spPr>
          <a:xfrm>
            <a:off x="4076700" y="2273300"/>
            <a:ext cx="76200" cy="355600"/>
          </a:xfrm>
          <a:prstGeom prst="rect">
            <a:avLst/>
          </a:prstGeom>
        </p:spPr>
      </p:pic>
      <p:sp>
        <p:nvSpPr>
          <p:cNvPr id="7" name="Shape 4"/>
          <p:cNvSpPr/>
          <p:nvPr/>
        </p:nvSpPr>
        <p:spPr>
          <a:xfrm>
            <a:off x="3101975" y="2593975"/>
            <a:ext cx="2025650" cy="400050"/>
          </a:xfrm>
          <a:prstGeom prst="roundRect">
            <a:avLst>
              <a:gd name="adj" fmla="val 18254"/>
            </a:avLst>
          </a:prstGeom>
          <a:solidFill>
            <a:srgbClr val="122018"/>
          </a:solidFill>
          <a:ln w="6350">
            <a:solidFill>
              <a:srgbClr val="6FD4A0"/>
            </a:solidFill>
            <a:prstDash val="solid"/>
          </a:ln>
        </p:spPr>
      </p:sp>
      <p:sp>
        <p:nvSpPr>
          <p:cNvPr id="8" name="Text 5"/>
          <p:cNvSpPr/>
          <p:nvPr/>
        </p:nvSpPr>
        <p:spPr>
          <a:xfrm>
            <a:off x="3540671" y="2687340"/>
            <a:ext cx="20116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PortfolioApp</a:t>
            </a:r>
            <a:endParaRPr lang="en-US" sz="1200" dirty="0"/>
          </a:p>
        </p:txBody>
      </p:sp>
      <p:pic>
        <p:nvPicPr>
          <p:cNvPr id="9" name="Image 1" descr="connector">    </p:cNvPr>
          <p:cNvPicPr>
            <a:picLocks noChangeAspect="1"/>
          </p:cNvPicPr>
          <p:nvPr/>
        </p:nvPicPr>
        <p:blipFill>
          <a:blip r:embed="rId2"/>
          <a:srcRect l="0" r="0" t="0" b="0"/>
          <a:stretch/>
        </p:blipFill>
        <p:spPr>
          <a:xfrm>
            <a:off x="4076700" y="2959100"/>
            <a:ext cx="76200" cy="279400"/>
          </a:xfrm>
          <a:prstGeom prst="rect">
            <a:avLst/>
          </a:prstGeom>
        </p:spPr>
      </p:pic>
      <p:pic>
        <p:nvPicPr>
          <p:cNvPr id="10" name="Image 2" descr="connector">    </p:cNvPr>
          <p:cNvPicPr>
            <a:picLocks noChangeAspect="1"/>
          </p:cNvPicPr>
          <p:nvPr/>
        </p:nvPicPr>
        <p:blipFill>
          <a:blip r:embed="rId3"/>
          <a:srcRect l="0" r="0" t="0" b="0"/>
          <a:stretch/>
        </p:blipFill>
        <p:spPr>
          <a:xfrm>
            <a:off x="1524000" y="3162300"/>
            <a:ext cx="5181600" cy="76200"/>
          </a:xfrm>
          <a:prstGeom prst="rect">
            <a:avLst/>
          </a:prstGeom>
        </p:spPr>
      </p:pic>
      <p:pic>
        <p:nvPicPr>
          <p:cNvPr id="11" name="Image 3" descr="connector">    </p:cNvPr>
          <p:cNvPicPr>
            <a:picLocks noChangeAspect="1"/>
          </p:cNvPicPr>
          <p:nvPr/>
        </p:nvPicPr>
        <p:blipFill>
          <a:blip r:embed="rId4"/>
          <a:srcRect l="0" r="0" t="0" b="0"/>
          <a:stretch/>
        </p:blipFill>
        <p:spPr>
          <a:xfrm>
            <a:off x="1524000" y="3162300"/>
            <a:ext cx="76200" cy="279400"/>
          </a:xfrm>
          <a:prstGeom prst="rect">
            <a:avLst/>
          </a:prstGeom>
        </p:spPr>
      </p:pic>
      <p:pic>
        <p:nvPicPr>
          <p:cNvPr id="12" name="Image 4" descr="connector">    </p:cNvPr>
          <p:cNvPicPr>
            <a:picLocks noChangeAspect="1"/>
          </p:cNvPicPr>
          <p:nvPr/>
        </p:nvPicPr>
        <p:blipFill>
          <a:blip r:embed="rId5"/>
          <a:srcRect l="0" r="0" t="0" b="0"/>
          <a:stretch/>
        </p:blipFill>
        <p:spPr>
          <a:xfrm>
            <a:off x="3225800" y="3162300"/>
            <a:ext cx="76200" cy="279400"/>
          </a:xfrm>
          <a:prstGeom prst="rect">
            <a:avLst/>
          </a:prstGeom>
        </p:spPr>
      </p:pic>
      <p:pic>
        <p:nvPicPr>
          <p:cNvPr id="13" name="Image 5" descr="connector">    </p:cNvPr>
          <p:cNvPicPr>
            <a:picLocks noChangeAspect="1"/>
          </p:cNvPicPr>
          <p:nvPr/>
        </p:nvPicPr>
        <p:blipFill>
          <a:blip r:embed="rId6"/>
          <a:srcRect l="0" r="0" t="0" b="0"/>
          <a:stretch/>
        </p:blipFill>
        <p:spPr>
          <a:xfrm>
            <a:off x="4927600" y="3162300"/>
            <a:ext cx="76200" cy="279400"/>
          </a:xfrm>
          <a:prstGeom prst="rect">
            <a:avLst/>
          </a:prstGeom>
        </p:spPr>
      </p:pic>
      <p:pic>
        <p:nvPicPr>
          <p:cNvPr id="14" name="Image 6" descr="connector">    </p:cNvPr>
          <p:cNvPicPr>
            <a:picLocks noChangeAspect="1"/>
          </p:cNvPicPr>
          <p:nvPr/>
        </p:nvPicPr>
        <p:blipFill>
          <a:blip r:embed="rId7"/>
          <a:srcRect l="0" r="0" t="0" b="0"/>
          <a:stretch/>
        </p:blipFill>
        <p:spPr>
          <a:xfrm>
            <a:off x="6629400" y="3162300"/>
            <a:ext cx="76200" cy="279400"/>
          </a:xfrm>
          <a:prstGeom prst="rect">
            <a:avLst/>
          </a:prstGeom>
        </p:spPr>
      </p:pic>
      <p:sp>
        <p:nvSpPr>
          <p:cNvPr id="15" name="Shape 6"/>
          <p:cNvSpPr/>
          <p:nvPr/>
        </p:nvSpPr>
        <p:spPr>
          <a:xfrm>
            <a:off x="815975" y="3406775"/>
            <a:ext cx="1492250" cy="400050"/>
          </a:xfrm>
          <a:prstGeom prst="roundRect">
            <a:avLst>
              <a:gd name="adj" fmla="val 18254"/>
            </a:avLst>
          </a:prstGeom>
          <a:solidFill>
            <a:srgbClr val="17171A"/>
          </a:solidFill>
          <a:ln w="6350">
            <a:solidFill>
              <a:srgbClr val="3A3A3F"/>
            </a:solidFill>
            <a:prstDash val="solid"/>
          </a:ln>
        </p:spPr>
      </p:sp>
      <p:sp>
        <p:nvSpPr>
          <p:cNvPr id="16" name="Text 7"/>
          <p:cNvSpPr/>
          <p:nvPr/>
        </p:nvSpPr>
        <p:spPr>
          <a:xfrm>
            <a:off x="1307306" y="3491210"/>
            <a:ext cx="509538"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F2F2EF"/>
                </a:solidFill>
                <a:latin typeface="Arial" pitchFamily="34" charset="0"/>
                <a:ea typeface="Arial" pitchFamily="34" charset="-122"/>
                <a:cs typeface="Arial" pitchFamily="34" charset="-120"/>
              </a:rPr>
              <a:t>Home</a:t>
            </a:r>
            <a:endParaRPr lang="en-US" sz="1300" dirty="0"/>
          </a:p>
        </p:txBody>
      </p:sp>
      <p:sp>
        <p:nvSpPr>
          <p:cNvPr id="17" name="Shape 8"/>
          <p:cNvSpPr/>
          <p:nvPr/>
        </p:nvSpPr>
        <p:spPr>
          <a:xfrm>
            <a:off x="2517775" y="3406775"/>
            <a:ext cx="1492250" cy="400050"/>
          </a:xfrm>
          <a:prstGeom prst="roundRect">
            <a:avLst>
              <a:gd name="adj" fmla="val 18254"/>
            </a:avLst>
          </a:prstGeom>
          <a:solidFill>
            <a:srgbClr val="17171A"/>
          </a:solidFill>
          <a:ln w="6350">
            <a:solidFill>
              <a:srgbClr val="3A3A3F"/>
            </a:solidFill>
            <a:prstDash val="solid"/>
          </a:ln>
        </p:spPr>
      </p:sp>
      <p:sp>
        <p:nvSpPr>
          <p:cNvPr id="18" name="Text 9"/>
          <p:cNvSpPr/>
          <p:nvPr/>
        </p:nvSpPr>
        <p:spPr>
          <a:xfrm>
            <a:off x="2912715" y="3491210"/>
            <a:ext cx="70237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F2F2EF"/>
                </a:solidFill>
                <a:latin typeface="Arial" pitchFamily="34" charset="0"/>
                <a:ea typeface="Arial" pitchFamily="34" charset="-122"/>
                <a:cs typeface="Arial" pitchFamily="34" charset="-120"/>
              </a:rPr>
              <a:t>About</a:t>
            </a:r>
            <a:endParaRPr lang="en-US" sz="1300" dirty="0"/>
          </a:p>
        </p:txBody>
      </p:sp>
      <p:sp>
        <p:nvSpPr>
          <p:cNvPr id="19" name="Shape 10"/>
          <p:cNvSpPr/>
          <p:nvPr/>
        </p:nvSpPr>
        <p:spPr>
          <a:xfrm>
            <a:off x="4219575" y="3406775"/>
            <a:ext cx="1492250" cy="400050"/>
          </a:xfrm>
          <a:prstGeom prst="roundRect">
            <a:avLst>
              <a:gd name="adj" fmla="val 18254"/>
            </a:avLst>
          </a:prstGeom>
          <a:solidFill>
            <a:srgbClr val="17171A"/>
          </a:solidFill>
          <a:ln w="6350">
            <a:solidFill>
              <a:srgbClr val="3A3A3F"/>
            </a:solidFill>
            <a:prstDash val="solid"/>
          </a:ln>
        </p:spPr>
      </p:sp>
      <p:sp>
        <p:nvSpPr>
          <p:cNvPr id="20" name="Text 11"/>
          <p:cNvSpPr/>
          <p:nvPr/>
        </p:nvSpPr>
        <p:spPr>
          <a:xfrm>
            <a:off x="4619129" y="3491210"/>
            <a:ext cx="693093"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F2F2EF"/>
                </a:solidFill>
                <a:latin typeface="Arial" pitchFamily="34" charset="0"/>
                <a:ea typeface="Arial" pitchFamily="34" charset="-122"/>
                <a:cs typeface="Arial" pitchFamily="34" charset="-120"/>
              </a:rPr>
              <a:t>Skills</a:t>
            </a:r>
            <a:endParaRPr lang="en-US" sz="1300" dirty="0"/>
          </a:p>
        </p:txBody>
      </p:sp>
      <p:sp>
        <p:nvSpPr>
          <p:cNvPr id="21" name="Shape 12"/>
          <p:cNvSpPr/>
          <p:nvPr/>
        </p:nvSpPr>
        <p:spPr>
          <a:xfrm>
            <a:off x="5921375" y="3406775"/>
            <a:ext cx="1492250" cy="400050"/>
          </a:xfrm>
          <a:prstGeom prst="roundRect">
            <a:avLst>
              <a:gd name="adj" fmla="val 18254"/>
            </a:avLst>
          </a:prstGeom>
          <a:solidFill>
            <a:srgbClr val="17171A"/>
          </a:solidFill>
          <a:ln w="6350">
            <a:solidFill>
              <a:srgbClr val="3A3A3F"/>
            </a:solidFill>
            <a:prstDash val="solid"/>
          </a:ln>
        </p:spPr>
      </p:sp>
      <p:sp>
        <p:nvSpPr>
          <p:cNvPr id="22" name="Text 13"/>
          <p:cNvSpPr/>
          <p:nvPr/>
        </p:nvSpPr>
        <p:spPr>
          <a:xfrm>
            <a:off x="6385173" y="3491210"/>
            <a:ext cx="109728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F2F2EF"/>
                </a:solidFill>
                <a:latin typeface="Arial" pitchFamily="34" charset="0"/>
                <a:ea typeface="Arial" pitchFamily="34" charset="-122"/>
                <a:cs typeface="Arial" pitchFamily="34" charset="-120"/>
              </a:rPr>
              <a:t>Projects</a:t>
            </a:r>
            <a:endParaRPr lang="en-US" sz="1300" dirty="0"/>
          </a:p>
        </p:txBody>
      </p:sp>
      <p:pic>
        <p:nvPicPr>
          <p:cNvPr id="23" name="Image 7" descr="connector">    </p:cNvPr>
          <p:cNvPicPr>
            <a:picLocks noChangeAspect="1"/>
          </p:cNvPicPr>
          <p:nvPr/>
        </p:nvPicPr>
        <p:blipFill>
          <a:blip r:embed="rId8"/>
          <a:srcRect l="0" r="0" t="0" b="0"/>
          <a:stretch/>
        </p:blipFill>
        <p:spPr>
          <a:xfrm>
            <a:off x="3225800" y="3771900"/>
            <a:ext cx="76200" cy="711200"/>
          </a:xfrm>
          <a:prstGeom prst="rect">
            <a:avLst/>
          </a:prstGeom>
        </p:spPr>
      </p:pic>
      <p:sp>
        <p:nvSpPr>
          <p:cNvPr id="24" name="Shape 14"/>
          <p:cNvSpPr/>
          <p:nvPr/>
        </p:nvSpPr>
        <p:spPr>
          <a:xfrm>
            <a:off x="2517775" y="4448175"/>
            <a:ext cx="1492250" cy="400050"/>
          </a:xfrm>
          <a:prstGeom prst="roundRect">
            <a:avLst>
              <a:gd name="adj" fmla="val 18254"/>
            </a:avLst>
          </a:prstGeom>
          <a:solidFill>
            <a:srgbClr val="0B0B0C"/>
          </a:solidFill>
          <a:ln w="6350">
            <a:solidFill>
              <a:srgbClr val="55555B"/>
            </a:solidFill>
            <a:prstDash val="dash"/>
          </a:ln>
        </p:spPr>
      </p:sp>
      <p:sp>
        <p:nvSpPr>
          <p:cNvPr id="25" name="Text 15"/>
          <p:cNvSpPr/>
          <p:nvPr/>
        </p:nvSpPr>
        <p:spPr>
          <a:xfrm>
            <a:off x="2747218" y="4541540"/>
            <a:ext cx="10972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1A1A6"/>
                </a:solidFill>
                <a:latin typeface="Arial" pitchFamily="34" charset="0"/>
                <a:ea typeface="Arial" pitchFamily="34" charset="-122"/>
                <a:cs typeface="Arial" pitchFamily="34" charset="-120"/>
              </a:rPr>
              <a:t>Resume</a:t>
            </a:r>
            <a:endParaRPr lang="en-US" sz="1200" dirty="0"/>
          </a:p>
        </p:txBody>
      </p:sp>
      <p:pic>
        <p:nvPicPr>
          <p:cNvPr id="26" name="Image 8" descr="connector">    </p:cNvPr>
          <p:cNvPicPr>
            <a:picLocks noChangeAspect="1"/>
          </p:cNvPicPr>
          <p:nvPr/>
        </p:nvPicPr>
        <p:blipFill>
          <a:blip r:embed="rId9"/>
          <a:srcRect l="0" r="0" t="0" b="0"/>
          <a:stretch/>
        </p:blipFill>
        <p:spPr>
          <a:xfrm>
            <a:off x="6057900" y="3771900"/>
            <a:ext cx="76200" cy="1473200"/>
          </a:xfrm>
          <a:prstGeom prst="rect">
            <a:avLst/>
          </a:prstGeom>
        </p:spPr>
      </p:pic>
      <p:pic>
        <p:nvPicPr>
          <p:cNvPr id="27" name="Image 9" descr="connector">    </p:cNvPr>
          <p:cNvPicPr>
            <a:picLocks noChangeAspect="1"/>
          </p:cNvPicPr>
          <p:nvPr/>
        </p:nvPicPr>
        <p:blipFill>
          <a:blip r:embed="rId10"/>
          <a:srcRect l="0" r="0" t="0" b="0"/>
          <a:stretch/>
        </p:blipFill>
        <p:spPr>
          <a:xfrm>
            <a:off x="6057900" y="4610100"/>
            <a:ext cx="330200" cy="76200"/>
          </a:xfrm>
          <a:prstGeom prst="rect">
            <a:avLst/>
          </a:prstGeom>
        </p:spPr>
      </p:pic>
      <p:pic>
        <p:nvPicPr>
          <p:cNvPr id="28" name="Image 10" descr="connector">    </p:cNvPr>
          <p:cNvPicPr>
            <a:picLocks noChangeAspect="1"/>
          </p:cNvPicPr>
          <p:nvPr/>
        </p:nvPicPr>
        <p:blipFill>
          <a:blip r:embed="rId11"/>
          <a:srcRect l="0" r="0" t="0" b="0"/>
          <a:stretch/>
        </p:blipFill>
        <p:spPr>
          <a:xfrm>
            <a:off x="6057900" y="5168900"/>
            <a:ext cx="330200" cy="76200"/>
          </a:xfrm>
          <a:prstGeom prst="rect">
            <a:avLst/>
          </a:prstGeom>
        </p:spPr>
      </p:pic>
      <p:sp>
        <p:nvSpPr>
          <p:cNvPr id="29" name="Shape 16"/>
          <p:cNvSpPr/>
          <p:nvPr/>
        </p:nvSpPr>
        <p:spPr>
          <a:xfrm>
            <a:off x="6353175" y="4448175"/>
            <a:ext cx="1060450" cy="400050"/>
          </a:xfrm>
          <a:prstGeom prst="roundRect">
            <a:avLst>
              <a:gd name="adj" fmla="val 18254"/>
            </a:avLst>
          </a:prstGeom>
          <a:solidFill>
            <a:srgbClr val="0B0B0C"/>
          </a:solidFill>
          <a:ln w="6350">
            <a:solidFill>
              <a:srgbClr val="55555B"/>
            </a:solidFill>
            <a:prstDash val="dash"/>
          </a:ln>
        </p:spPr>
      </p:sp>
      <p:sp>
        <p:nvSpPr>
          <p:cNvPr id="30" name="Text 17"/>
          <p:cNvSpPr/>
          <p:nvPr/>
        </p:nvSpPr>
        <p:spPr>
          <a:xfrm>
            <a:off x="6595368" y="4541540"/>
            <a:ext cx="10972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1A1A6"/>
                </a:solidFill>
                <a:latin typeface="Arial" pitchFamily="34" charset="0"/>
                <a:ea typeface="Arial" pitchFamily="34" charset="-122"/>
                <a:cs typeface="Arial" pitchFamily="34" charset="-120"/>
              </a:rPr>
              <a:t>Certs</a:t>
            </a:r>
            <a:endParaRPr lang="en-US" sz="1200" dirty="0"/>
          </a:p>
        </p:txBody>
      </p:sp>
      <p:sp>
        <p:nvSpPr>
          <p:cNvPr id="31" name="Shape 18"/>
          <p:cNvSpPr/>
          <p:nvPr/>
        </p:nvSpPr>
        <p:spPr>
          <a:xfrm>
            <a:off x="6353175" y="5006975"/>
            <a:ext cx="1060450" cy="400050"/>
          </a:xfrm>
          <a:prstGeom prst="roundRect">
            <a:avLst>
              <a:gd name="adj" fmla="val 18254"/>
            </a:avLst>
          </a:prstGeom>
          <a:solidFill>
            <a:srgbClr val="0B0B0C"/>
          </a:solidFill>
          <a:ln w="6350">
            <a:solidFill>
              <a:srgbClr val="55555B"/>
            </a:solidFill>
            <a:prstDash val="dash"/>
          </a:ln>
        </p:spPr>
      </p:sp>
      <p:sp>
        <p:nvSpPr>
          <p:cNvPr id="32" name="Text 19"/>
          <p:cNvSpPr/>
          <p:nvPr/>
        </p:nvSpPr>
        <p:spPr>
          <a:xfrm>
            <a:off x="6574234" y="5100340"/>
            <a:ext cx="10972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1A1A6"/>
                </a:solidFill>
                <a:latin typeface="Arial" pitchFamily="34" charset="0"/>
                <a:ea typeface="Arial" pitchFamily="34" charset="-122"/>
                <a:cs typeface="Arial" pitchFamily="34" charset="-120"/>
              </a:rPr>
              <a:t>Contact</a:t>
            </a:r>
            <a:endParaRPr lang="en-US" sz="1200" dirty="0"/>
          </a:p>
        </p:txBody>
      </p:sp>
      <p:sp>
        <p:nvSpPr>
          <p:cNvPr id="33" name="Text 20"/>
          <p:cNvSpPr/>
          <p:nvPr/>
        </p:nvSpPr>
        <p:spPr>
          <a:xfrm>
            <a:off x="812800" y="5562600"/>
            <a:ext cx="7315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Arial" pitchFamily="34" charset="0"/>
                <a:ea typeface="Arial" pitchFamily="34" charset="-122"/>
                <a:cs typeface="Arial" pitchFamily="34" charset="-120"/>
              </a:rPr>
              <a:t>Dynamic onScroll offset calculation &amp; smooth scrollToSection coordination</a:t>
            </a:r>
            <a:endParaRPr lang="en-US" sz="1200" dirty="0"/>
          </a:p>
        </p:txBody>
      </p:sp>
      <p:sp>
        <p:nvSpPr>
          <p:cNvPr id="34" name="Shape 21"/>
          <p:cNvSpPr/>
          <p:nvPr/>
        </p:nvSpPr>
        <p:spPr>
          <a:xfrm>
            <a:off x="7721600" y="1905000"/>
            <a:ext cx="6350" cy="3556000"/>
          </a:xfrm>
          <a:prstGeom prst="rect">
            <a:avLst/>
          </a:prstGeom>
          <a:solidFill>
            <a:srgbClr val="2A2A2E"/>
          </a:solidFill>
          <a:ln/>
        </p:spPr>
      </p:sp>
      <p:sp>
        <p:nvSpPr>
          <p:cNvPr id="35" name="Text 22"/>
          <p:cNvSpPr/>
          <p:nvPr/>
        </p:nvSpPr>
        <p:spPr>
          <a:xfrm>
            <a:off x="8026400" y="1905000"/>
            <a:ext cx="34533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A8F"/>
                </a:solidFill>
                <a:latin typeface="Arial" pitchFamily="34" charset="0"/>
                <a:ea typeface="Arial" pitchFamily="34" charset="-122"/>
                <a:cs typeface="Arial" pitchFamily="34" charset="-120"/>
              </a:rPr>
              <a:t>PROJECT STRUCTURE</a:t>
            </a:r>
            <a:endParaRPr lang="en-US" sz="1200" dirty="0"/>
          </a:p>
        </p:txBody>
      </p:sp>
      <p:sp>
        <p:nvSpPr>
          <p:cNvPr id="36" name="Shape 23"/>
          <p:cNvSpPr/>
          <p:nvPr/>
        </p:nvSpPr>
        <p:spPr>
          <a:xfrm>
            <a:off x="8026400" y="2223095"/>
            <a:ext cx="3352800" cy="0"/>
          </a:xfrm>
          <a:prstGeom prst="line">
            <a:avLst/>
          </a:prstGeom>
          <a:noFill/>
          <a:ln w="6350">
            <a:solidFill>
              <a:srgbClr val="2A2A2E"/>
            </a:solidFill>
            <a:prstDash val="solid"/>
          </a:ln>
        </p:spPr>
      </p:sp>
      <p:sp>
        <p:nvSpPr>
          <p:cNvPr id="37" name="Text 24"/>
          <p:cNvSpPr/>
          <p:nvPr/>
        </p:nvSpPr>
        <p:spPr>
          <a:xfrm>
            <a:off x="8026400" y="2315170"/>
            <a:ext cx="1257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FD4A0"/>
                </a:solidFill>
                <a:latin typeface="Courier New" pitchFamily="34" charset="0"/>
                <a:ea typeface="Courier New" pitchFamily="34" charset="-122"/>
                <a:cs typeface="Courier New" pitchFamily="34" charset="-120"/>
              </a:rPr>
              <a:t>src/</a:t>
            </a:r>
            <a:endParaRPr lang="en-US" sz="1300" dirty="0"/>
          </a:p>
        </p:txBody>
      </p:sp>
      <p:sp>
        <p:nvSpPr>
          <p:cNvPr id="38" name="Shape 25"/>
          <p:cNvSpPr/>
          <p:nvPr/>
        </p:nvSpPr>
        <p:spPr>
          <a:xfrm>
            <a:off x="8026400" y="2638375"/>
            <a:ext cx="3352800" cy="0"/>
          </a:xfrm>
          <a:prstGeom prst="line">
            <a:avLst/>
          </a:prstGeom>
          <a:noFill/>
          <a:ln w="6350">
            <a:solidFill>
              <a:srgbClr val="2A2A2E"/>
            </a:solidFill>
            <a:prstDash val="solid"/>
          </a:ln>
        </p:spPr>
      </p:sp>
      <p:sp>
        <p:nvSpPr>
          <p:cNvPr id="39" name="Text 26"/>
          <p:cNvSpPr/>
          <p:nvPr/>
        </p:nvSpPr>
        <p:spPr>
          <a:xfrm>
            <a:off x="8026400" y="2733625"/>
            <a:ext cx="1257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F2EF"/>
                </a:solidFill>
                <a:latin typeface="Courier New" pitchFamily="34" charset="0"/>
                <a:ea typeface="Courier New" pitchFamily="34" charset="-122"/>
                <a:cs typeface="Courier New" pitchFamily="34" charset="-120"/>
              </a:rPr>
              <a:t>portfolio/</a:t>
            </a:r>
            <a:endParaRPr lang="en-US" sz="1300" dirty="0"/>
          </a:p>
        </p:txBody>
      </p:sp>
      <p:sp>
        <p:nvSpPr>
          <p:cNvPr id="40" name="Text 27"/>
          <p:cNvSpPr/>
          <p:nvPr/>
        </p:nvSpPr>
        <p:spPr>
          <a:xfrm>
            <a:off x="9334500" y="2730450"/>
            <a:ext cx="23774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PortfolioApp coordinator</a:t>
            </a:r>
            <a:endParaRPr lang="en-US" sz="1200" dirty="0"/>
          </a:p>
        </p:txBody>
      </p:sp>
      <p:sp>
        <p:nvSpPr>
          <p:cNvPr id="41" name="Shape 28"/>
          <p:cNvSpPr/>
          <p:nvPr/>
        </p:nvSpPr>
        <p:spPr>
          <a:xfrm>
            <a:off x="8026400" y="3056830"/>
            <a:ext cx="3352800" cy="0"/>
          </a:xfrm>
          <a:prstGeom prst="line">
            <a:avLst/>
          </a:prstGeom>
          <a:noFill/>
          <a:ln w="6350">
            <a:solidFill>
              <a:srgbClr val="2A2A2E"/>
            </a:solidFill>
            <a:prstDash val="solid"/>
          </a:ln>
        </p:spPr>
      </p:sp>
      <p:sp>
        <p:nvSpPr>
          <p:cNvPr id="42" name="Text 29"/>
          <p:cNvSpPr/>
          <p:nvPr/>
        </p:nvSpPr>
        <p:spPr>
          <a:xfrm>
            <a:off x="8026400" y="3152080"/>
            <a:ext cx="1257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F2EF"/>
                </a:solidFill>
                <a:latin typeface="Courier New" pitchFamily="34" charset="0"/>
                <a:ea typeface="Courier New" pitchFamily="34" charset="-122"/>
                <a:cs typeface="Courier New" pitchFamily="34" charset="-120"/>
              </a:rPr>
              <a:t>screens/</a:t>
            </a:r>
            <a:endParaRPr lang="en-US" sz="1300" dirty="0"/>
          </a:p>
        </p:txBody>
      </p:sp>
      <p:sp>
        <p:nvSpPr>
          <p:cNvPr id="43" name="Text 30"/>
          <p:cNvSpPr/>
          <p:nvPr/>
        </p:nvSpPr>
        <p:spPr>
          <a:xfrm>
            <a:off x="9334500" y="3148905"/>
            <a:ext cx="23774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7 modular section screens</a:t>
            </a:r>
            <a:endParaRPr lang="en-US" sz="1200" dirty="0"/>
          </a:p>
        </p:txBody>
      </p:sp>
      <p:sp>
        <p:nvSpPr>
          <p:cNvPr id="44" name="Shape 31"/>
          <p:cNvSpPr/>
          <p:nvPr/>
        </p:nvSpPr>
        <p:spPr>
          <a:xfrm>
            <a:off x="8026400" y="3475286"/>
            <a:ext cx="3352800" cy="0"/>
          </a:xfrm>
          <a:prstGeom prst="line">
            <a:avLst/>
          </a:prstGeom>
          <a:noFill/>
          <a:ln w="6350">
            <a:solidFill>
              <a:srgbClr val="2A2A2E"/>
            </a:solidFill>
            <a:prstDash val="solid"/>
          </a:ln>
        </p:spPr>
      </p:sp>
      <p:sp>
        <p:nvSpPr>
          <p:cNvPr id="45" name="Text 32"/>
          <p:cNvSpPr/>
          <p:nvPr/>
        </p:nvSpPr>
        <p:spPr>
          <a:xfrm>
            <a:off x="8026400" y="3570536"/>
            <a:ext cx="1257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F2EF"/>
                </a:solidFill>
                <a:latin typeface="Courier New" pitchFamily="34" charset="0"/>
                <a:ea typeface="Courier New" pitchFamily="34" charset="-122"/>
                <a:cs typeface="Courier New" pitchFamily="34" charset="-120"/>
              </a:rPr>
              <a:t>components/</a:t>
            </a:r>
            <a:endParaRPr lang="en-US" sz="1300" dirty="0"/>
          </a:p>
        </p:txBody>
      </p:sp>
      <p:sp>
        <p:nvSpPr>
          <p:cNvPr id="46" name="Text 33"/>
          <p:cNvSpPr/>
          <p:nvPr/>
        </p:nvSpPr>
        <p:spPr>
          <a:xfrm>
            <a:off x="9334500" y="3567361"/>
            <a:ext cx="23774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Navbar, SkillBar, Title</a:t>
            </a:r>
            <a:endParaRPr lang="en-US" sz="1200" dirty="0"/>
          </a:p>
        </p:txBody>
      </p:sp>
      <p:sp>
        <p:nvSpPr>
          <p:cNvPr id="47" name="Shape 34"/>
          <p:cNvSpPr/>
          <p:nvPr/>
        </p:nvSpPr>
        <p:spPr>
          <a:xfrm>
            <a:off x="8026400" y="3893741"/>
            <a:ext cx="3352800" cy="0"/>
          </a:xfrm>
          <a:prstGeom prst="line">
            <a:avLst/>
          </a:prstGeom>
          <a:noFill/>
          <a:ln w="6350">
            <a:solidFill>
              <a:srgbClr val="2A2A2E"/>
            </a:solidFill>
            <a:prstDash val="solid"/>
          </a:ln>
        </p:spPr>
      </p:sp>
      <p:sp>
        <p:nvSpPr>
          <p:cNvPr id="48" name="Text 35"/>
          <p:cNvSpPr/>
          <p:nvPr/>
        </p:nvSpPr>
        <p:spPr>
          <a:xfrm>
            <a:off x="8026400" y="3988991"/>
            <a:ext cx="1257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F2EF"/>
                </a:solidFill>
                <a:latin typeface="Courier New" pitchFamily="34" charset="0"/>
                <a:ea typeface="Courier New" pitchFamily="34" charset="-122"/>
                <a:cs typeface="Courier New" pitchFamily="34" charset="-120"/>
              </a:rPr>
              <a:t>data/</a:t>
            </a:r>
            <a:endParaRPr lang="en-US" sz="1300" dirty="0"/>
          </a:p>
        </p:txBody>
      </p:sp>
      <p:sp>
        <p:nvSpPr>
          <p:cNvPr id="49" name="Text 36"/>
          <p:cNvSpPr/>
          <p:nvPr/>
        </p:nvSpPr>
        <p:spPr>
          <a:xfrm>
            <a:off x="9334500" y="3985816"/>
            <a:ext cx="23774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portfolio.ts data layer</a:t>
            </a:r>
            <a:endParaRPr lang="en-US" sz="1200" dirty="0"/>
          </a:p>
        </p:txBody>
      </p:sp>
      <p:sp>
        <p:nvSpPr>
          <p:cNvPr id="50" name="Shape 37"/>
          <p:cNvSpPr/>
          <p:nvPr/>
        </p:nvSpPr>
        <p:spPr>
          <a:xfrm>
            <a:off x="8026400" y="4312196"/>
            <a:ext cx="3352800" cy="0"/>
          </a:xfrm>
          <a:prstGeom prst="line">
            <a:avLst/>
          </a:prstGeom>
          <a:noFill/>
          <a:ln w="6350">
            <a:solidFill>
              <a:srgbClr val="2A2A2E"/>
            </a:solidFill>
            <a:prstDash val="solid"/>
          </a:ln>
        </p:spPr>
      </p:sp>
      <p:sp>
        <p:nvSpPr>
          <p:cNvPr id="51" name="Text 38"/>
          <p:cNvSpPr/>
          <p:nvPr/>
        </p:nvSpPr>
        <p:spPr>
          <a:xfrm>
            <a:off x="8026400" y="4407446"/>
            <a:ext cx="1257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F2EF"/>
                </a:solidFill>
                <a:latin typeface="Courier New" pitchFamily="34" charset="0"/>
                <a:ea typeface="Courier New" pitchFamily="34" charset="-122"/>
                <a:cs typeface="Courier New" pitchFamily="34" charset="-120"/>
              </a:rPr>
              <a:t>theme.ts</a:t>
            </a:r>
            <a:endParaRPr lang="en-US" sz="1300" dirty="0"/>
          </a:p>
        </p:txBody>
      </p:sp>
      <p:sp>
        <p:nvSpPr>
          <p:cNvPr id="52" name="Text 39"/>
          <p:cNvSpPr/>
          <p:nvPr/>
        </p:nvSpPr>
        <p:spPr>
          <a:xfrm>
            <a:off x="9334500" y="4404271"/>
            <a:ext cx="23774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Dark Navy design tokens</a:t>
            </a:r>
            <a:endParaRPr lang="en-US" sz="1200" dirty="0"/>
          </a:p>
        </p:txBody>
      </p:sp>
      <p:sp>
        <p:nvSpPr>
          <p:cNvPr id="53" name="Shape 40"/>
          <p:cNvSpPr/>
          <p:nvPr/>
        </p:nvSpPr>
        <p:spPr>
          <a:xfrm>
            <a:off x="8026400" y="4730651"/>
            <a:ext cx="3352800" cy="0"/>
          </a:xfrm>
          <a:prstGeom prst="line">
            <a:avLst/>
          </a:prstGeom>
          <a:noFill/>
          <a:ln w="6350">
            <a:solidFill>
              <a:srgbClr val="2A2A2E"/>
            </a:solidFill>
            <a:prstDash val="solid"/>
          </a:ln>
        </p:spPr>
      </p:sp>
      <p:sp>
        <p:nvSpPr>
          <p:cNvPr id="54" name="Text 41"/>
          <p:cNvSpPr/>
          <p:nvPr/>
        </p:nvSpPr>
        <p:spPr>
          <a:xfrm>
            <a:off x="8026400" y="4825901"/>
            <a:ext cx="1257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F2EF"/>
                </a:solidFill>
                <a:latin typeface="Courier New" pitchFamily="34" charset="0"/>
                <a:ea typeface="Courier New" pitchFamily="34" charset="-122"/>
                <a:cs typeface="Courier New" pitchFamily="34" charset="-120"/>
              </a:rPr>
              <a:t>__tests__/</a:t>
            </a:r>
            <a:endParaRPr lang="en-US" sz="1300" dirty="0"/>
          </a:p>
        </p:txBody>
      </p:sp>
      <p:sp>
        <p:nvSpPr>
          <p:cNvPr id="55" name="Text 42"/>
          <p:cNvSpPr/>
          <p:nvPr/>
        </p:nvSpPr>
        <p:spPr>
          <a:xfrm>
            <a:off x="9334500" y="4822726"/>
            <a:ext cx="23774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Jest unit test suites</a:t>
            </a:r>
            <a:endParaRPr lang="en-US" sz="1200" dirty="0"/>
          </a:p>
        </p:txBody>
      </p:sp>
      <p:sp>
        <p:nvSpPr>
          <p:cNvPr id="56" name="Text 43"/>
          <p:cNvSpPr/>
          <p:nvPr/>
        </p:nvSpPr>
        <p:spPr>
          <a:xfrm>
            <a:off x="812800" y="6236990"/>
            <a:ext cx="365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Arial" pitchFamily="34" charset="0"/>
                <a:ea typeface="Arial" pitchFamily="34" charset="-122"/>
                <a:cs typeface="Arial" pitchFamily="34" charset="-120"/>
              </a:rPr>
              <a:t>DevPortfolio · Varad Vikas Mandhare</a:t>
            </a:r>
            <a:endParaRPr lang="en-US" sz="1200" dirty="0"/>
          </a:p>
        </p:txBody>
      </p:sp>
      <p:sp>
        <p:nvSpPr>
          <p:cNvPr id="57" name="Text 44"/>
          <p:cNvSpPr/>
          <p:nvPr/>
        </p:nvSpPr>
        <p:spPr>
          <a:xfrm>
            <a:off x="10738991" y="6236990"/>
            <a:ext cx="6910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05 / 12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8A8F"/>
                </a:solidFill>
                <a:latin typeface="Arial" pitchFamily="34" charset="0"/>
                <a:ea typeface="Arial" pitchFamily="34" charset="-122"/>
                <a:cs typeface="Arial" pitchFamily="34" charset="-120"/>
              </a:rPr>
              <a:t>06 — APPLICATION SCREENS</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100" kern="0" dirty="0">
                <a:solidFill>
                  <a:srgbClr val="F2F2EF"/>
                </a:solidFill>
                <a:latin typeface="Arial" pitchFamily="34" charset="0"/>
                <a:ea typeface="Arial" pitchFamily="34" charset="-122"/>
                <a:cs typeface="Arial" pitchFamily="34" charset="-120"/>
              </a:rPr>
              <a:t>Four primary sections.</a:t>
            </a:r>
            <a:endParaRPr lang="en-US" sz="3600" dirty="0"/>
          </a:p>
        </p:txBody>
      </p:sp>
      <p:sp>
        <p:nvSpPr>
          <p:cNvPr id="4" name="Shape 2"/>
          <p:cNvSpPr/>
          <p:nvPr/>
        </p:nvSpPr>
        <p:spPr>
          <a:xfrm>
            <a:off x="1292225" y="1913186"/>
            <a:ext cx="1454150" cy="3054350"/>
          </a:xfrm>
          <a:prstGeom prst="roundRect">
            <a:avLst>
              <a:gd name="adj" fmla="val 17249"/>
            </a:avLst>
          </a:prstGeom>
          <a:solidFill>
            <a:srgbClr val="050506"/>
          </a:solidFill>
          <a:ln w="6350">
            <a:solidFill>
              <a:srgbClr val="2A2A2E"/>
            </a:solidFill>
            <a:prstDash val="solid"/>
          </a:ln>
          <a:effectLst>
            <a:outerShdw sx="100000" sy="100000" kx="0" ky="0" algn="bl" rotWithShape="0" blurRad="762000" dist="254000" dir="5400000">
              <a:srgbClr val="000000">
                <a:alpha val="55000"/>
              </a:srgbClr>
            </a:outerShdw>
          </a:effectLst>
        </p:spPr>
      </p:sp>
      <p:pic>
        <p:nvPicPr>
          <p:cNvPr id="5" name="Image 0" descr="Home screen">    </p:cNvPr>
          <p:cNvPicPr>
            <a:picLocks noChangeAspect="1"/>
          </p:cNvPicPr>
          <p:nvPr/>
        </p:nvPicPr>
        <p:blipFill>
          <a:blip r:embed="rId1"/>
          <a:srcRect l="0" r="0" t="109" b="109"/>
          <a:stretch/>
        </p:blipFill>
        <p:spPr>
          <a:xfrm>
            <a:off x="1358900" y="1979861"/>
            <a:ext cx="1320800" cy="2921000"/>
          </a:xfrm>
          <a:prstGeom prst="rect">
            <a:avLst/>
          </a:prstGeom>
        </p:spPr>
      </p:pic>
      <p:sp>
        <p:nvSpPr>
          <p:cNvPr id="6" name="Text 3"/>
          <p:cNvSpPr/>
          <p:nvPr/>
        </p:nvSpPr>
        <p:spPr>
          <a:xfrm>
            <a:off x="1601093" y="514851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01</a:t>
            </a:r>
            <a:endParaRPr lang="en-US" sz="1200" dirty="0"/>
          </a:p>
        </p:txBody>
      </p:sp>
      <p:sp>
        <p:nvSpPr>
          <p:cNvPr id="7" name="Text 4"/>
          <p:cNvSpPr/>
          <p:nvPr/>
        </p:nvSpPr>
        <p:spPr>
          <a:xfrm>
            <a:off x="1872903" y="5085011"/>
            <a:ext cx="61535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2EF"/>
                </a:solidFill>
                <a:latin typeface="Arial" pitchFamily="34" charset="0"/>
                <a:ea typeface="Arial" pitchFamily="34" charset="-122"/>
                <a:cs typeface="Arial" pitchFamily="34" charset="-120"/>
              </a:rPr>
              <a:t>Home</a:t>
            </a:r>
            <a:endParaRPr lang="en-US" sz="1600" dirty="0"/>
          </a:p>
        </p:txBody>
      </p:sp>
      <p:sp>
        <p:nvSpPr>
          <p:cNvPr id="8" name="Text 5"/>
          <p:cNvSpPr/>
          <p:nvPr/>
        </p:nvSpPr>
        <p:spPr>
          <a:xfrm>
            <a:off x="1206054" y="5483771"/>
            <a:ext cx="23774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1A1A6"/>
                </a:solidFill>
                <a:latin typeface="Arial" pitchFamily="34" charset="0"/>
                <a:ea typeface="Arial" pitchFamily="34" charset="-122"/>
                <a:cs typeface="Arial" pitchFamily="34" charset="-120"/>
              </a:rPr>
              <a:t>Hero profile, stats &amp; CTAs</a:t>
            </a:r>
            <a:endParaRPr lang="en-US" sz="1200" dirty="0"/>
          </a:p>
        </p:txBody>
      </p:sp>
      <p:sp>
        <p:nvSpPr>
          <p:cNvPr id="9" name="Shape 6"/>
          <p:cNvSpPr/>
          <p:nvPr/>
        </p:nvSpPr>
        <p:spPr>
          <a:xfrm>
            <a:off x="4013200" y="1913186"/>
            <a:ext cx="1447800" cy="3054350"/>
          </a:xfrm>
          <a:prstGeom prst="roundRect">
            <a:avLst>
              <a:gd name="adj" fmla="val 17325"/>
            </a:avLst>
          </a:prstGeom>
          <a:solidFill>
            <a:srgbClr val="050506"/>
          </a:solidFill>
          <a:ln w="6350">
            <a:solidFill>
              <a:srgbClr val="2A2A2E"/>
            </a:solidFill>
            <a:prstDash val="solid"/>
          </a:ln>
          <a:effectLst>
            <a:outerShdw sx="100000" sy="100000" kx="0" ky="0" algn="bl" rotWithShape="0" blurRad="762000" dist="254000" dir="5400000">
              <a:srgbClr val="000000">
                <a:alpha val="55000"/>
              </a:srgbClr>
            </a:outerShdw>
          </a:effectLst>
        </p:spPr>
      </p:sp>
      <p:pic>
        <p:nvPicPr>
          <p:cNvPr id="10" name="Image 1" descr="Projects screen">    </p:cNvPr>
          <p:cNvPicPr>
            <a:picLocks noChangeAspect="1"/>
          </p:cNvPicPr>
          <p:nvPr/>
        </p:nvPicPr>
        <p:blipFill>
          <a:blip r:embed="rId2"/>
          <a:srcRect l="66" r="66" t="0" b="0"/>
          <a:stretch/>
        </p:blipFill>
        <p:spPr>
          <a:xfrm>
            <a:off x="4079875" y="1979861"/>
            <a:ext cx="1314450" cy="2921000"/>
          </a:xfrm>
          <a:prstGeom prst="rect">
            <a:avLst/>
          </a:prstGeom>
        </p:spPr>
      </p:pic>
      <p:sp>
        <p:nvSpPr>
          <p:cNvPr id="11" name="Text 7"/>
          <p:cNvSpPr/>
          <p:nvPr/>
        </p:nvSpPr>
        <p:spPr>
          <a:xfrm>
            <a:off x="4200227" y="514851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02</a:t>
            </a:r>
            <a:endParaRPr lang="en-US" sz="1200" dirty="0"/>
          </a:p>
        </p:txBody>
      </p:sp>
      <p:sp>
        <p:nvSpPr>
          <p:cNvPr id="12" name="Text 8"/>
          <p:cNvSpPr/>
          <p:nvPr/>
        </p:nvSpPr>
        <p:spPr>
          <a:xfrm>
            <a:off x="4472037" y="5085011"/>
            <a:ext cx="85268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2EF"/>
                </a:solidFill>
                <a:latin typeface="Arial" pitchFamily="34" charset="0"/>
                <a:ea typeface="Arial" pitchFamily="34" charset="-122"/>
                <a:cs typeface="Arial" pitchFamily="34" charset="-120"/>
              </a:rPr>
              <a:t>Skills</a:t>
            </a:r>
            <a:endParaRPr lang="en-US" sz="1600" dirty="0"/>
          </a:p>
        </p:txBody>
      </p:sp>
      <p:sp>
        <p:nvSpPr>
          <p:cNvPr id="13" name="Text 9"/>
          <p:cNvSpPr/>
          <p:nvPr/>
        </p:nvSpPr>
        <p:spPr>
          <a:xfrm>
            <a:off x="4199285" y="5483771"/>
            <a:ext cx="23774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1A1A6"/>
                </a:solidFill>
                <a:latin typeface="Arial" pitchFamily="34" charset="0"/>
                <a:ea typeface="Arial" pitchFamily="34" charset="-122"/>
                <a:cs typeface="Arial" pitchFamily="34" charset="-120"/>
              </a:rPr>
              <a:t>24+ animated skill bars</a:t>
            </a:r>
            <a:endParaRPr lang="en-US" sz="1200" dirty="0"/>
          </a:p>
        </p:txBody>
      </p:sp>
      <p:sp>
        <p:nvSpPr>
          <p:cNvPr id="14" name="Shape 10"/>
          <p:cNvSpPr/>
          <p:nvPr/>
        </p:nvSpPr>
        <p:spPr>
          <a:xfrm>
            <a:off x="6724650" y="1913186"/>
            <a:ext cx="1460500" cy="3054350"/>
          </a:xfrm>
          <a:prstGeom prst="roundRect">
            <a:avLst>
              <a:gd name="adj" fmla="val 17174"/>
            </a:avLst>
          </a:prstGeom>
          <a:solidFill>
            <a:srgbClr val="050506"/>
          </a:solidFill>
          <a:ln w="6350">
            <a:solidFill>
              <a:srgbClr val="2A2A2E"/>
            </a:solidFill>
            <a:prstDash val="solid"/>
          </a:ln>
          <a:effectLst>
            <a:outerShdw sx="100000" sy="100000" kx="0" ky="0" algn="bl" rotWithShape="0" blurRad="762000" dist="254000" dir="5400000">
              <a:srgbClr val="000000">
                <a:alpha val="55000"/>
              </a:srgbClr>
            </a:outerShdw>
          </a:effectLst>
        </p:spPr>
      </p:sp>
      <p:pic>
        <p:nvPicPr>
          <p:cNvPr id="15" name="Image 2" descr="Journey screen">    </p:cNvPr>
          <p:cNvPicPr>
            <a:picLocks noChangeAspect="1"/>
          </p:cNvPicPr>
          <p:nvPr/>
        </p:nvPicPr>
        <p:blipFill>
          <a:blip r:embed="rId3"/>
          <a:srcRect l="101" r="101" t="0" b="0"/>
          <a:stretch/>
        </p:blipFill>
        <p:spPr>
          <a:xfrm>
            <a:off x="6791325" y="1979861"/>
            <a:ext cx="1327150" cy="2921000"/>
          </a:xfrm>
          <a:prstGeom prst="rect">
            <a:avLst/>
          </a:prstGeom>
        </p:spPr>
      </p:pic>
      <p:sp>
        <p:nvSpPr>
          <p:cNvPr id="16" name="Text 11"/>
          <p:cNvSpPr/>
          <p:nvPr/>
        </p:nvSpPr>
        <p:spPr>
          <a:xfrm>
            <a:off x="6923732" y="514851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03</a:t>
            </a:r>
            <a:endParaRPr lang="en-US" sz="1200" dirty="0"/>
          </a:p>
        </p:txBody>
      </p:sp>
      <p:sp>
        <p:nvSpPr>
          <p:cNvPr id="17" name="Text 12"/>
          <p:cNvSpPr/>
          <p:nvPr/>
        </p:nvSpPr>
        <p:spPr>
          <a:xfrm>
            <a:off x="7195542" y="5085011"/>
            <a:ext cx="84127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2EF"/>
                </a:solidFill>
                <a:latin typeface="Arial" pitchFamily="34" charset="0"/>
                <a:ea typeface="Arial" pitchFamily="34" charset="-122"/>
                <a:cs typeface="Arial" pitchFamily="34" charset="-120"/>
              </a:rPr>
              <a:t>Projects</a:t>
            </a:r>
            <a:endParaRPr lang="en-US" sz="1600" dirty="0"/>
          </a:p>
        </p:txBody>
      </p:sp>
      <p:sp>
        <p:nvSpPr>
          <p:cNvPr id="18" name="Text 13"/>
          <p:cNvSpPr/>
          <p:nvPr/>
        </p:nvSpPr>
        <p:spPr>
          <a:xfrm>
            <a:off x="6616154" y="5483771"/>
            <a:ext cx="23774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1A1A6"/>
                </a:solidFill>
                <a:latin typeface="Arial" pitchFamily="34" charset="0"/>
                <a:ea typeface="Arial" pitchFamily="34" charset="-122"/>
                <a:cs typeface="Arial" pitchFamily="34" charset="-120"/>
              </a:rPr>
              <a:t>Featured project cards &amp; links</a:t>
            </a:r>
            <a:endParaRPr lang="en-US" sz="1200" dirty="0"/>
          </a:p>
        </p:txBody>
      </p:sp>
      <p:sp>
        <p:nvSpPr>
          <p:cNvPr id="19" name="Shape 14"/>
          <p:cNvSpPr/>
          <p:nvPr/>
        </p:nvSpPr>
        <p:spPr>
          <a:xfrm>
            <a:off x="9442450" y="1913186"/>
            <a:ext cx="1460500" cy="3054350"/>
          </a:xfrm>
          <a:prstGeom prst="roundRect">
            <a:avLst>
              <a:gd name="adj" fmla="val 17174"/>
            </a:avLst>
          </a:prstGeom>
          <a:solidFill>
            <a:srgbClr val="050506"/>
          </a:solidFill>
          <a:ln w="6350">
            <a:solidFill>
              <a:srgbClr val="2A2A2E"/>
            </a:solidFill>
            <a:prstDash val="solid"/>
          </a:ln>
          <a:effectLst>
            <a:outerShdw sx="100000" sy="100000" kx="0" ky="0" algn="bl" rotWithShape="0" blurRad="762000" dist="254000" dir="5400000">
              <a:srgbClr val="000000">
                <a:alpha val="55000"/>
              </a:srgbClr>
            </a:outerShdw>
          </a:effectLst>
        </p:spPr>
      </p:sp>
      <p:pic>
        <p:nvPicPr>
          <p:cNvPr id="20" name="Image 3" descr="Profile screen">    </p:cNvPr>
          <p:cNvPicPr>
            <a:picLocks noChangeAspect="1"/>
          </p:cNvPicPr>
          <p:nvPr/>
        </p:nvPicPr>
        <p:blipFill>
          <a:blip r:embed="rId4"/>
          <a:srcRect l="0" r="0" t="57" b="57"/>
          <a:stretch/>
        </p:blipFill>
        <p:spPr>
          <a:xfrm>
            <a:off x="9509125" y="1979861"/>
            <a:ext cx="1327150" cy="2921000"/>
          </a:xfrm>
          <a:prstGeom prst="rect">
            <a:avLst/>
          </a:prstGeom>
        </p:spPr>
      </p:pic>
      <p:sp>
        <p:nvSpPr>
          <p:cNvPr id="21" name="Text 15"/>
          <p:cNvSpPr/>
          <p:nvPr/>
        </p:nvSpPr>
        <p:spPr>
          <a:xfrm>
            <a:off x="9720610" y="514851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04</a:t>
            </a:r>
            <a:endParaRPr lang="en-US" sz="1200" dirty="0"/>
          </a:p>
        </p:txBody>
      </p:sp>
      <p:sp>
        <p:nvSpPr>
          <p:cNvPr id="22" name="Text 16"/>
          <p:cNvSpPr/>
          <p:nvPr/>
        </p:nvSpPr>
        <p:spPr>
          <a:xfrm>
            <a:off x="9992420" y="5085011"/>
            <a:ext cx="68312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2EF"/>
                </a:solidFill>
                <a:latin typeface="Arial" pitchFamily="34" charset="0"/>
                <a:ea typeface="Arial" pitchFamily="34" charset="-122"/>
                <a:cs typeface="Arial" pitchFamily="34" charset="-120"/>
              </a:rPr>
              <a:t>Resume</a:t>
            </a:r>
            <a:endParaRPr lang="en-US" sz="1600" dirty="0"/>
          </a:p>
        </p:txBody>
      </p:sp>
      <p:sp>
        <p:nvSpPr>
          <p:cNvPr id="23" name="Text 17"/>
          <p:cNvSpPr/>
          <p:nvPr/>
        </p:nvSpPr>
        <p:spPr>
          <a:xfrm>
            <a:off x="9401820" y="5483771"/>
            <a:ext cx="23774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1A1A6"/>
                </a:solidFill>
                <a:latin typeface="Arial" pitchFamily="34" charset="0"/>
                <a:ea typeface="Arial" pitchFamily="34" charset="-122"/>
                <a:cs typeface="Arial" pitchFamily="34" charset="-120"/>
              </a:rPr>
              <a:t>Digital resume &amp; PDF trigger</a:t>
            </a:r>
            <a:endParaRPr lang="en-US" sz="1200" dirty="0"/>
          </a:p>
        </p:txBody>
      </p:sp>
      <p:sp>
        <p:nvSpPr>
          <p:cNvPr id="24" name="Text 18"/>
          <p:cNvSpPr/>
          <p:nvPr/>
        </p:nvSpPr>
        <p:spPr>
          <a:xfrm>
            <a:off x="812800" y="6236990"/>
            <a:ext cx="365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Arial" pitchFamily="34" charset="0"/>
                <a:ea typeface="Arial" pitchFamily="34" charset="-122"/>
                <a:cs typeface="Arial" pitchFamily="34" charset="-120"/>
              </a:rPr>
              <a:t>DevPortfolio · Varad Vikas Mandhare</a:t>
            </a:r>
            <a:endParaRPr lang="en-US" sz="1200" dirty="0"/>
          </a:p>
        </p:txBody>
      </p:sp>
      <p:sp>
        <p:nvSpPr>
          <p:cNvPr id="25" name="Text 19"/>
          <p:cNvSpPr/>
          <p:nvPr/>
        </p:nvSpPr>
        <p:spPr>
          <a:xfrm>
            <a:off x="10738991" y="6236990"/>
            <a:ext cx="6910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06 / 12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8A8F"/>
                </a:solidFill>
                <a:latin typeface="Arial" pitchFamily="34" charset="0"/>
                <a:ea typeface="Arial" pitchFamily="34" charset="-122"/>
                <a:cs typeface="Arial" pitchFamily="34" charset="-120"/>
              </a:rPr>
              <a:t>07 — PROJECT SHOWCASE</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100" kern="0" dirty="0">
                <a:solidFill>
                  <a:srgbClr val="F2F2EF"/>
                </a:solidFill>
                <a:latin typeface="Arial" pitchFamily="34" charset="0"/>
                <a:ea typeface="Arial" pitchFamily="34" charset="-122"/>
                <a:cs typeface="Arial" pitchFamily="34" charset="-120"/>
              </a:rPr>
              <a:t>Six projects, one portfolio.</a:t>
            </a:r>
            <a:endParaRPr lang="en-US" sz="3600" dirty="0"/>
          </a:p>
        </p:txBody>
      </p:sp>
      <p:sp>
        <p:nvSpPr>
          <p:cNvPr id="4" name="Shape 2"/>
          <p:cNvSpPr/>
          <p:nvPr/>
        </p:nvSpPr>
        <p:spPr>
          <a:xfrm>
            <a:off x="812800" y="5272137"/>
            <a:ext cx="10566400" cy="0"/>
          </a:xfrm>
          <a:prstGeom prst="line">
            <a:avLst/>
          </a:prstGeom>
          <a:noFill/>
          <a:ln w="6350">
            <a:solidFill>
              <a:srgbClr val="2A2A2E"/>
            </a:solidFill>
            <a:prstDash val="solid"/>
          </a:ln>
        </p:spPr>
      </p:sp>
      <p:sp>
        <p:nvSpPr>
          <p:cNvPr id="5" name="Text 3"/>
          <p:cNvSpPr/>
          <p:nvPr/>
        </p:nvSpPr>
        <p:spPr>
          <a:xfrm>
            <a:off x="812800" y="1910011"/>
            <a:ext cx="4953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A8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1409700" y="1910011"/>
            <a:ext cx="274701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A8F"/>
                </a:solidFill>
                <a:latin typeface="Arial" pitchFamily="34" charset="0"/>
                <a:ea typeface="Arial" pitchFamily="34" charset="-122"/>
                <a:cs typeface="Arial" pitchFamily="34" charset="-120"/>
              </a:rPr>
              <a:t>PROJECT</a:t>
            </a:r>
            <a:endParaRPr lang="en-US" sz="1200" dirty="0"/>
          </a:p>
        </p:txBody>
      </p:sp>
      <p:sp>
        <p:nvSpPr>
          <p:cNvPr id="7" name="Text 5"/>
          <p:cNvSpPr/>
          <p:nvPr/>
        </p:nvSpPr>
        <p:spPr>
          <a:xfrm>
            <a:off x="4229100" y="1910011"/>
            <a:ext cx="32702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A8F"/>
                </a:solidFill>
                <a:latin typeface="Arial" pitchFamily="34" charset="0"/>
                <a:ea typeface="Arial" pitchFamily="34" charset="-122"/>
                <a:cs typeface="Arial" pitchFamily="34" charset="-120"/>
              </a:rPr>
              <a:t>WHAT IT IS</a:t>
            </a:r>
            <a:endParaRPr lang="en-US" sz="1200" dirty="0"/>
          </a:p>
        </p:txBody>
      </p:sp>
      <p:sp>
        <p:nvSpPr>
          <p:cNvPr id="8" name="Text 6"/>
          <p:cNvSpPr/>
          <p:nvPr/>
        </p:nvSpPr>
        <p:spPr>
          <a:xfrm>
            <a:off x="7556500" y="1910011"/>
            <a:ext cx="393738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A8F"/>
                </a:solidFill>
                <a:latin typeface="Arial" pitchFamily="34" charset="0"/>
                <a:ea typeface="Arial" pitchFamily="34" charset="-122"/>
                <a:cs typeface="Arial" pitchFamily="34" charset="-120"/>
              </a:rPr>
              <a:t>BUILT WITH</a:t>
            </a:r>
            <a:endParaRPr lang="en-US" sz="1200" dirty="0"/>
          </a:p>
        </p:txBody>
      </p:sp>
      <p:sp>
        <p:nvSpPr>
          <p:cNvPr id="9" name="Shape 7"/>
          <p:cNvSpPr/>
          <p:nvPr/>
        </p:nvSpPr>
        <p:spPr>
          <a:xfrm>
            <a:off x="812800" y="2228106"/>
            <a:ext cx="10566400" cy="0"/>
          </a:xfrm>
          <a:prstGeom prst="line">
            <a:avLst/>
          </a:prstGeom>
          <a:noFill/>
          <a:ln w="6350">
            <a:solidFill>
              <a:srgbClr val="2A2A2E"/>
            </a:solidFill>
            <a:prstDash val="solid"/>
          </a:ln>
        </p:spPr>
      </p:sp>
      <p:sp>
        <p:nvSpPr>
          <p:cNvPr id="10" name="Text 8"/>
          <p:cNvSpPr/>
          <p:nvPr/>
        </p:nvSpPr>
        <p:spPr>
          <a:xfrm>
            <a:off x="812800" y="2434481"/>
            <a:ext cx="495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01</a:t>
            </a:r>
            <a:endParaRPr lang="en-US" sz="1200" dirty="0"/>
          </a:p>
        </p:txBody>
      </p:sp>
      <p:sp>
        <p:nvSpPr>
          <p:cNvPr id="11" name="Text 9"/>
          <p:cNvSpPr/>
          <p:nvPr/>
        </p:nvSpPr>
        <p:spPr>
          <a:xfrm>
            <a:off x="1409700" y="2370981"/>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2EF"/>
                </a:solidFill>
                <a:latin typeface="Arial" pitchFamily="34" charset="0"/>
                <a:ea typeface="Arial" pitchFamily="34" charset="-122"/>
                <a:cs typeface="Arial" pitchFamily="34" charset="-120"/>
              </a:rPr>
              <a:t>ELEVARE</a:t>
            </a:r>
            <a:endParaRPr lang="en-US" sz="1600" dirty="0"/>
          </a:p>
        </p:txBody>
      </p:sp>
      <p:sp>
        <p:nvSpPr>
          <p:cNvPr id="12" name="Text 10"/>
          <p:cNvSpPr/>
          <p:nvPr/>
        </p:nvSpPr>
        <p:spPr>
          <a:xfrm>
            <a:off x="4229100" y="2409081"/>
            <a:ext cx="329184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1A1A6"/>
                </a:solidFill>
                <a:latin typeface="Arial" pitchFamily="34" charset="0"/>
                <a:ea typeface="Arial" pitchFamily="34" charset="-122"/>
                <a:cs typeface="Arial" pitchFamily="34" charset="-120"/>
              </a:rPr>
              <a:t>AI-Driven Career Discovery Platform</a:t>
            </a:r>
            <a:endParaRPr lang="en-US" sz="1300" dirty="0"/>
          </a:p>
        </p:txBody>
      </p:sp>
      <p:sp>
        <p:nvSpPr>
          <p:cNvPr id="13" name="Text 11"/>
          <p:cNvSpPr/>
          <p:nvPr/>
        </p:nvSpPr>
        <p:spPr>
          <a:xfrm>
            <a:off x="7556500" y="2421781"/>
            <a:ext cx="4572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2"/>
                </a:solidFill>
                <a:latin typeface="Arial" pitchFamily="34" charset="0"/>
                <a:ea typeface="Arial" pitchFamily="34" charset="-122"/>
                <a:cs typeface="Arial" pitchFamily="34" charset="-120"/>
              </a:rPr>
              <a:t>React.js · Node.js · FastAPI · MongoDB · NLP · LLM · JWT</a:t>
            </a:r>
            <a:endParaRPr lang="en-US" sz="1200" dirty="0"/>
          </a:p>
        </p:txBody>
      </p:sp>
      <p:sp>
        <p:nvSpPr>
          <p:cNvPr id="14" name="Shape 12"/>
          <p:cNvSpPr/>
          <p:nvPr/>
        </p:nvSpPr>
        <p:spPr>
          <a:xfrm>
            <a:off x="812800" y="2798316"/>
            <a:ext cx="10566400" cy="0"/>
          </a:xfrm>
          <a:prstGeom prst="line">
            <a:avLst/>
          </a:prstGeom>
          <a:noFill/>
          <a:ln w="6350">
            <a:solidFill>
              <a:srgbClr val="2A2A2E"/>
            </a:solidFill>
            <a:prstDash val="solid"/>
          </a:ln>
        </p:spPr>
      </p:sp>
      <p:sp>
        <p:nvSpPr>
          <p:cNvPr id="15" name="Text 13"/>
          <p:cNvSpPr/>
          <p:nvPr/>
        </p:nvSpPr>
        <p:spPr>
          <a:xfrm>
            <a:off x="812800" y="3004691"/>
            <a:ext cx="495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02</a:t>
            </a:r>
            <a:endParaRPr lang="en-US" sz="1200" dirty="0"/>
          </a:p>
        </p:txBody>
      </p:sp>
      <p:sp>
        <p:nvSpPr>
          <p:cNvPr id="16" name="Text 14"/>
          <p:cNvSpPr/>
          <p:nvPr/>
        </p:nvSpPr>
        <p:spPr>
          <a:xfrm>
            <a:off x="1409700" y="2941191"/>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2EF"/>
                </a:solidFill>
                <a:latin typeface="Arial" pitchFamily="34" charset="0"/>
                <a:ea typeface="Arial" pitchFamily="34" charset="-122"/>
                <a:cs typeface="Arial" pitchFamily="34" charset="-120"/>
              </a:rPr>
              <a:t>BookSphere</a:t>
            </a:r>
            <a:endParaRPr lang="en-US" sz="1600" dirty="0"/>
          </a:p>
        </p:txBody>
      </p:sp>
      <p:sp>
        <p:nvSpPr>
          <p:cNvPr id="17" name="Text 15"/>
          <p:cNvSpPr/>
          <p:nvPr/>
        </p:nvSpPr>
        <p:spPr>
          <a:xfrm>
            <a:off x="4229100" y="2979291"/>
            <a:ext cx="329184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1A1A6"/>
                </a:solidFill>
                <a:latin typeface="Arial" pitchFamily="34" charset="0"/>
                <a:ea typeface="Arial" pitchFamily="34" charset="-122"/>
                <a:cs typeface="Arial" pitchFamily="34" charset="-120"/>
              </a:rPr>
              <a:t>DSA-Powered Online Bookstore</a:t>
            </a:r>
            <a:endParaRPr lang="en-US" sz="1300" dirty="0"/>
          </a:p>
        </p:txBody>
      </p:sp>
      <p:sp>
        <p:nvSpPr>
          <p:cNvPr id="18" name="Text 16"/>
          <p:cNvSpPr/>
          <p:nvPr/>
        </p:nvSpPr>
        <p:spPr>
          <a:xfrm>
            <a:off x="7556500" y="2991991"/>
            <a:ext cx="45720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2"/>
                </a:solidFill>
                <a:latin typeface="Arial" pitchFamily="34" charset="0"/>
                <a:ea typeface="Arial" pitchFamily="34" charset="-122"/>
                <a:cs typeface="Arial" pitchFamily="34" charset="-120"/>
              </a:rPr>
              <a:t>React 18 · Supabase · PostgreSQL · Dijkstra · Knapsack DP · Selenium</a:t>
            </a:r>
            <a:endParaRPr lang="en-US" sz="1200" dirty="0"/>
          </a:p>
        </p:txBody>
      </p:sp>
      <p:sp>
        <p:nvSpPr>
          <p:cNvPr id="19" name="Shape 17"/>
          <p:cNvSpPr/>
          <p:nvPr/>
        </p:nvSpPr>
        <p:spPr>
          <a:xfrm>
            <a:off x="812800" y="3561507"/>
            <a:ext cx="10566400" cy="0"/>
          </a:xfrm>
          <a:prstGeom prst="line">
            <a:avLst/>
          </a:prstGeom>
          <a:noFill/>
          <a:ln w="6350">
            <a:solidFill>
              <a:srgbClr val="2A2A2E"/>
            </a:solidFill>
            <a:prstDash val="solid"/>
          </a:ln>
        </p:spPr>
      </p:sp>
      <p:sp>
        <p:nvSpPr>
          <p:cNvPr id="20" name="Text 18"/>
          <p:cNvSpPr/>
          <p:nvPr/>
        </p:nvSpPr>
        <p:spPr>
          <a:xfrm>
            <a:off x="812800" y="3767882"/>
            <a:ext cx="495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03</a:t>
            </a:r>
            <a:endParaRPr lang="en-US" sz="1200" dirty="0"/>
          </a:p>
        </p:txBody>
      </p:sp>
      <p:sp>
        <p:nvSpPr>
          <p:cNvPr id="21" name="Text 19"/>
          <p:cNvSpPr/>
          <p:nvPr/>
        </p:nvSpPr>
        <p:spPr>
          <a:xfrm>
            <a:off x="1409700" y="3704382"/>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2EF"/>
                </a:solidFill>
                <a:latin typeface="Arial" pitchFamily="34" charset="0"/>
                <a:ea typeface="Arial" pitchFamily="34" charset="-122"/>
                <a:cs typeface="Arial" pitchFamily="34" charset="-120"/>
              </a:rPr>
              <a:t>Stockify</a:t>
            </a:r>
            <a:endParaRPr lang="en-US" sz="1600" dirty="0"/>
          </a:p>
        </p:txBody>
      </p:sp>
      <p:sp>
        <p:nvSpPr>
          <p:cNvPr id="22" name="Text 20"/>
          <p:cNvSpPr/>
          <p:nvPr/>
        </p:nvSpPr>
        <p:spPr>
          <a:xfrm>
            <a:off x="4229100" y="3742482"/>
            <a:ext cx="329184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1A1A6"/>
                </a:solidFill>
                <a:latin typeface="Arial" pitchFamily="34" charset="0"/>
                <a:ea typeface="Arial" pitchFamily="34" charset="-122"/>
                <a:cs typeface="Arial" pitchFamily="34" charset="-120"/>
              </a:rPr>
              <a:t>Retail Inventory Android App</a:t>
            </a:r>
            <a:endParaRPr lang="en-US" sz="1300" dirty="0"/>
          </a:p>
        </p:txBody>
      </p:sp>
      <p:sp>
        <p:nvSpPr>
          <p:cNvPr id="23" name="Text 21"/>
          <p:cNvSpPr/>
          <p:nvPr/>
        </p:nvSpPr>
        <p:spPr>
          <a:xfrm>
            <a:off x="7556500" y="3755182"/>
            <a:ext cx="4572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2"/>
                </a:solidFill>
                <a:latin typeface="Arial" pitchFamily="34" charset="0"/>
                <a:ea typeface="Arial" pitchFamily="34" charset="-122"/>
                <a:cs typeface="Arial" pitchFamily="34" charset="-120"/>
              </a:rPr>
              <a:t>Android (Java) · Room DB · ZXing Barcode · WorkManager · Material 3</a:t>
            </a:r>
            <a:endParaRPr lang="en-US" sz="1200" dirty="0"/>
          </a:p>
        </p:txBody>
      </p:sp>
      <p:sp>
        <p:nvSpPr>
          <p:cNvPr id="24" name="Shape 22"/>
          <p:cNvSpPr/>
          <p:nvPr/>
        </p:nvSpPr>
        <p:spPr>
          <a:xfrm>
            <a:off x="812800" y="4131717"/>
            <a:ext cx="10566400" cy="0"/>
          </a:xfrm>
          <a:prstGeom prst="line">
            <a:avLst/>
          </a:prstGeom>
          <a:noFill/>
          <a:ln w="6350">
            <a:solidFill>
              <a:srgbClr val="2A2A2E"/>
            </a:solidFill>
            <a:prstDash val="solid"/>
          </a:ln>
        </p:spPr>
      </p:sp>
      <p:sp>
        <p:nvSpPr>
          <p:cNvPr id="25" name="Text 23"/>
          <p:cNvSpPr/>
          <p:nvPr/>
        </p:nvSpPr>
        <p:spPr>
          <a:xfrm>
            <a:off x="812800" y="4338092"/>
            <a:ext cx="495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04</a:t>
            </a:r>
            <a:endParaRPr lang="en-US" sz="1200" dirty="0"/>
          </a:p>
        </p:txBody>
      </p:sp>
      <p:sp>
        <p:nvSpPr>
          <p:cNvPr id="26" name="Text 24"/>
          <p:cNvSpPr/>
          <p:nvPr/>
        </p:nvSpPr>
        <p:spPr>
          <a:xfrm>
            <a:off x="1409700" y="4274592"/>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2EF"/>
                </a:solidFill>
                <a:latin typeface="Arial" pitchFamily="34" charset="0"/>
                <a:ea typeface="Arial" pitchFamily="34" charset="-122"/>
                <a:cs typeface="Arial" pitchFamily="34" charset="-120"/>
              </a:rPr>
              <a:t>Selenium CI/CD</a:t>
            </a:r>
            <a:endParaRPr lang="en-US" sz="1600" dirty="0"/>
          </a:p>
        </p:txBody>
      </p:sp>
      <p:sp>
        <p:nvSpPr>
          <p:cNvPr id="27" name="Text 25"/>
          <p:cNvSpPr/>
          <p:nvPr/>
        </p:nvSpPr>
        <p:spPr>
          <a:xfrm>
            <a:off x="4229100" y="4312692"/>
            <a:ext cx="329184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1A1A6"/>
                </a:solidFill>
                <a:latin typeface="Arial" pitchFamily="34" charset="0"/>
                <a:ea typeface="Arial" pitchFamily="34" charset="-122"/>
                <a:cs typeface="Arial" pitchFamily="34" charset="-120"/>
              </a:rPr>
              <a:t>Enterprise Test Automation Framework</a:t>
            </a:r>
            <a:endParaRPr lang="en-US" sz="1300" dirty="0"/>
          </a:p>
        </p:txBody>
      </p:sp>
      <p:sp>
        <p:nvSpPr>
          <p:cNvPr id="28" name="Text 26"/>
          <p:cNvSpPr/>
          <p:nvPr/>
        </p:nvSpPr>
        <p:spPr>
          <a:xfrm>
            <a:off x="7556500" y="4325392"/>
            <a:ext cx="4572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2"/>
                </a:solidFill>
                <a:latin typeface="Arial" pitchFamily="34" charset="0"/>
                <a:ea typeface="Arial" pitchFamily="34" charset="-122"/>
                <a:cs typeface="Arial" pitchFamily="34" charset="-120"/>
              </a:rPr>
              <a:t>Java · Selenium WebDriver · TestNG · Maven · GitHub Actions · POM</a:t>
            </a:r>
            <a:endParaRPr lang="en-US" sz="1200" dirty="0"/>
          </a:p>
        </p:txBody>
      </p:sp>
      <p:sp>
        <p:nvSpPr>
          <p:cNvPr id="29" name="Shape 27"/>
          <p:cNvSpPr/>
          <p:nvPr/>
        </p:nvSpPr>
        <p:spPr>
          <a:xfrm>
            <a:off x="812800" y="4701927"/>
            <a:ext cx="10566400" cy="0"/>
          </a:xfrm>
          <a:prstGeom prst="line">
            <a:avLst/>
          </a:prstGeom>
          <a:noFill/>
          <a:ln w="6350">
            <a:solidFill>
              <a:srgbClr val="2A2A2E"/>
            </a:solidFill>
            <a:prstDash val="solid"/>
          </a:ln>
        </p:spPr>
      </p:sp>
      <p:sp>
        <p:nvSpPr>
          <p:cNvPr id="30" name="Text 28"/>
          <p:cNvSpPr/>
          <p:nvPr/>
        </p:nvSpPr>
        <p:spPr>
          <a:xfrm>
            <a:off x="812800" y="4908302"/>
            <a:ext cx="495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05</a:t>
            </a:r>
            <a:endParaRPr lang="en-US" sz="1200" dirty="0"/>
          </a:p>
        </p:txBody>
      </p:sp>
      <p:sp>
        <p:nvSpPr>
          <p:cNvPr id="31" name="Text 29"/>
          <p:cNvSpPr/>
          <p:nvPr/>
        </p:nvSpPr>
        <p:spPr>
          <a:xfrm>
            <a:off x="1409700" y="4844802"/>
            <a:ext cx="27470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2EF"/>
                </a:solidFill>
                <a:latin typeface="Arial" pitchFamily="34" charset="0"/>
                <a:ea typeface="Arial" pitchFamily="34" charset="-122"/>
                <a:cs typeface="Arial" pitchFamily="34" charset="-120"/>
              </a:rPr>
              <a:t>CyberScope-AI</a:t>
            </a:r>
            <a:endParaRPr lang="en-US" sz="1600" dirty="0"/>
          </a:p>
        </p:txBody>
      </p:sp>
      <p:sp>
        <p:nvSpPr>
          <p:cNvPr id="32" name="Text 30"/>
          <p:cNvSpPr/>
          <p:nvPr/>
        </p:nvSpPr>
        <p:spPr>
          <a:xfrm>
            <a:off x="4229100" y="4882902"/>
            <a:ext cx="329184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1A1A6"/>
                </a:solidFill>
                <a:latin typeface="Arial" pitchFamily="34" charset="0"/>
                <a:ea typeface="Arial" pitchFamily="34" charset="-122"/>
                <a:cs typeface="Arial" pitchFamily="34" charset="-120"/>
              </a:rPr>
              <a:t>WiFi Security &amp; Analysis Platform</a:t>
            </a:r>
            <a:endParaRPr lang="en-US" sz="1300" dirty="0"/>
          </a:p>
        </p:txBody>
      </p:sp>
      <p:sp>
        <p:nvSpPr>
          <p:cNvPr id="33" name="Text 31"/>
          <p:cNvSpPr/>
          <p:nvPr/>
        </p:nvSpPr>
        <p:spPr>
          <a:xfrm>
            <a:off x="7556500" y="4895602"/>
            <a:ext cx="4572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2"/>
                </a:solidFill>
                <a:latin typeface="Arial" pitchFamily="34" charset="0"/>
                <a:ea typeface="Arial" pitchFamily="34" charset="-122"/>
                <a:cs typeface="Arial" pitchFamily="34" charset="-120"/>
              </a:rPr>
              <a:t>Python · Network Security · WiFi Auditing · FastAPI · Linux · 1st Place Win</a:t>
            </a:r>
            <a:endParaRPr lang="en-US" sz="1200" dirty="0"/>
          </a:p>
        </p:txBody>
      </p:sp>
      <p:sp>
        <p:nvSpPr>
          <p:cNvPr id="34" name="Text 32"/>
          <p:cNvSpPr/>
          <p:nvPr/>
        </p:nvSpPr>
        <p:spPr>
          <a:xfrm>
            <a:off x="812800" y="5580112"/>
            <a:ext cx="1051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Each project includes architecture highlights, verified GitHub repository links (github.com/Varadha9), and live demos.</a:t>
            </a:r>
            <a:endParaRPr lang="en-US" sz="1200" dirty="0"/>
          </a:p>
        </p:txBody>
      </p:sp>
      <p:sp>
        <p:nvSpPr>
          <p:cNvPr id="35" name="Text 33"/>
          <p:cNvSpPr/>
          <p:nvPr/>
        </p:nvSpPr>
        <p:spPr>
          <a:xfrm>
            <a:off x="812800" y="6236990"/>
            <a:ext cx="365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Arial" pitchFamily="34" charset="0"/>
                <a:ea typeface="Arial" pitchFamily="34" charset="-122"/>
                <a:cs typeface="Arial" pitchFamily="34" charset="-120"/>
              </a:rPr>
              <a:t>DevPortfolio · Varad Vikas Mandhare</a:t>
            </a:r>
            <a:endParaRPr lang="en-US" sz="1200" dirty="0"/>
          </a:p>
        </p:txBody>
      </p:sp>
      <p:sp>
        <p:nvSpPr>
          <p:cNvPr id="36" name="Text 34"/>
          <p:cNvSpPr/>
          <p:nvPr/>
        </p:nvSpPr>
        <p:spPr>
          <a:xfrm>
            <a:off x="10738991" y="6236990"/>
            <a:ext cx="6910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07 / 12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8A8F"/>
                </a:solidFill>
                <a:latin typeface="Arial" pitchFamily="34" charset="0"/>
                <a:ea typeface="Arial" pitchFamily="34" charset="-122"/>
                <a:cs typeface="Arial" pitchFamily="34" charset="-120"/>
              </a:rPr>
              <a:t>08 — JOURNEY &amp; LEADERSHIP</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100" kern="0" dirty="0">
                <a:solidFill>
                  <a:srgbClr val="F2F2EF"/>
                </a:solidFill>
                <a:latin typeface="Arial" pitchFamily="34" charset="0"/>
                <a:ea typeface="Arial" pitchFamily="34" charset="-122"/>
                <a:cs typeface="Arial" pitchFamily="34" charset="-120"/>
              </a:rPr>
              <a:t>From 2023 to today.</a:t>
            </a:r>
            <a:endParaRPr lang="en-US" sz="3600" dirty="0"/>
          </a:p>
        </p:txBody>
      </p:sp>
      <p:sp>
        <p:nvSpPr>
          <p:cNvPr id="4" name="Text 2"/>
          <p:cNvSpPr/>
          <p:nvPr/>
        </p:nvSpPr>
        <p:spPr>
          <a:xfrm>
            <a:off x="812800" y="1910011"/>
            <a:ext cx="45720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A8F"/>
                </a:solidFill>
                <a:latin typeface="Arial" pitchFamily="34" charset="0"/>
                <a:ea typeface="Arial" pitchFamily="34" charset="-122"/>
                <a:cs typeface="Arial" pitchFamily="34" charset="-120"/>
              </a:rPr>
              <a:t>EDUCATION &amp; ACHIEVEMENTS</a:t>
            </a:r>
            <a:endParaRPr lang="en-US" sz="1200" dirty="0"/>
          </a:p>
        </p:txBody>
      </p:sp>
      <p:sp>
        <p:nvSpPr>
          <p:cNvPr id="5" name="Shape 3"/>
          <p:cNvSpPr/>
          <p:nvPr/>
        </p:nvSpPr>
        <p:spPr>
          <a:xfrm>
            <a:off x="819150" y="2326531"/>
            <a:ext cx="0" cy="787301"/>
          </a:xfrm>
          <a:prstGeom prst="line">
            <a:avLst/>
          </a:prstGeom>
          <a:noFill/>
          <a:ln w="12700">
            <a:solidFill>
              <a:srgbClr val="2A2A2E"/>
            </a:solidFill>
            <a:prstDash val="solid"/>
          </a:ln>
        </p:spPr>
      </p:sp>
      <p:sp>
        <p:nvSpPr>
          <p:cNvPr id="6" name="Text 4"/>
          <p:cNvSpPr/>
          <p:nvPr/>
        </p:nvSpPr>
        <p:spPr>
          <a:xfrm>
            <a:off x="1028700" y="2326531"/>
            <a:ext cx="42365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2023 – 2027</a:t>
            </a:r>
            <a:endParaRPr lang="en-US" sz="1200" dirty="0"/>
          </a:p>
        </p:txBody>
      </p:sp>
      <p:sp>
        <p:nvSpPr>
          <p:cNvPr id="7" name="Text 5"/>
          <p:cNvSpPr/>
          <p:nvPr/>
        </p:nvSpPr>
        <p:spPr>
          <a:xfrm>
            <a:off x="1028700" y="2577951"/>
            <a:ext cx="4572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2EF"/>
                </a:solidFill>
                <a:latin typeface="Arial" pitchFamily="34" charset="0"/>
                <a:ea typeface="Arial" pitchFamily="34" charset="-122"/>
                <a:cs typeface="Arial" pitchFamily="34" charset="-120"/>
              </a:rPr>
              <a:t>B.Tech Information Technology</a:t>
            </a:r>
            <a:endParaRPr lang="en-US" sz="1600" dirty="0"/>
          </a:p>
        </p:txBody>
      </p:sp>
      <p:sp>
        <p:nvSpPr>
          <p:cNvPr id="8" name="Text 6"/>
          <p:cNvSpPr/>
          <p:nvPr/>
        </p:nvSpPr>
        <p:spPr>
          <a:xfrm>
            <a:off x="1028700" y="2900511"/>
            <a:ext cx="502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MIT ADT University · CGPA 7.59 / 10 · Software &amp; Mobile App Specialisation</a:t>
            </a:r>
            <a:endParaRPr lang="en-US" sz="1200" dirty="0"/>
          </a:p>
        </p:txBody>
      </p:sp>
      <p:sp>
        <p:nvSpPr>
          <p:cNvPr id="9" name="Shape 7"/>
          <p:cNvSpPr/>
          <p:nvPr/>
        </p:nvSpPr>
        <p:spPr>
          <a:xfrm>
            <a:off x="819150" y="3317032"/>
            <a:ext cx="0" cy="787301"/>
          </a:xfrm>
          <a:prstGeom prst="line">
            <a:avLst/>
          </a:prstGeom>
          <a:noFill/>
          <a:ln w="12700">
            <a:solidFill>
              <a:srgbClr val="2A2A2E"/>
            </a:solidFill>
            <a:prstDash val="solid"/>
          </a:ln>
        </p:spPr>
      </p:sp>
      <p:sp>
        <p:nvSpPr>
          <p:cNvPr id="10" name="Text 8"/>
          <p:cNvSpPr/>
          <p:nvPr/>
        </p:nvSpPr>
        <p:spPr>
          <a:xfrm>
            <a:off x="1028700" y="3317032"/>
            <a:ext cx="42365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2023 – Present</a:t>
            </a:r>
            <a:endParaRPr lang="en-US" sz="1200" dirty="0"/>
          </a:p>
        </p:txBody>
      </p:sp>
      <p:sp>
        <p:nvSpPr>
          <p:cNvPr id="11" name="Text 9"/>
          <p:cNvSpPr/>
          <p:nvPr/>
        </p:nvSpPr>
        <p:spPr>
          <a:xfrm>
            <a:off x="1028700" y="3568452"/>
            <a:ext cx="4572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2EF"/>
                </a:solidFill>
                <a:latin typeface="Arial" pitchFamily="34" charset="0"/>
                <a:ea typeface="Arial" pitchFamily="34" charset="-122"/>
                <a:cs typeface="Arial" pitchFamily="34" charset="-120"/>
              </a:rPr>
              <a:t>Class Representative (2 Years)</a:t>
            </a:r>
            <a:endParaRPr lang="en-US" sz="1600" dirty="0"/>
          </a:p>
        </p:txBody>
      </p:sp>
      <p:sp>
        <p:nvSpPr>
          <p:cNvPr id="12" name="Text 10"/>
          <p:cNvSpPr/>
          <p:nvPr/>
        </p:nvSpPr>
        <p:spPr>
          <a:xfrm>
            <a:off x="1028700" y="3891012"/>
            <a:ext cx="502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MIT School of Computing · Liaison for 60+ engineering students</a:t>
            </a:r>
            <a:endParaRPr lang="en-US" sz="1200" dirty="0"/>
          </a:p>
        </p:txBody>
      </p:sp>
      <p:sp>
        <p:nvSpPr>
          <p:cNvPr id="13" name="Shape 11"/>
          <p:cNvSpPr/>
          <p:nvPr/>
        </p:nvSpPr>
        <p:spPr>
          <a:xfrm>
            <a:off x="819150" y="4307532"/>
            <a:ext cx="0" cy="1000621"/>
          </a:xfrm>
          <a:prstGeom prst="line">
            <a:avLst/>
          </a:prstGeom>
          <a:noFill/>
          <a:ln w="12700">
            <a:solidFill>
              <a:srgbClr val="2A2A2E"/>
            </a:solidFill>
            <a:prstDash val="solid"/>
          </a:ln>
        </p:spPr>
      </p:sp>
      <p:sp>
        <p:nvSpPr>
          <p:cNvPr id="14" name="Text 12"/>
          <p:cNvSpPr/>
          <p:nvPr/>
        </p:nvSpPr>
        <p:spPr>
          <a:xfrm>
            <a:off x="1028700" y="4307532"/>
            <a:ext cx="42365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2024 – 2025</a:t>
            </a:r>
            <a:endParaRPr lang="en-US" sz="1200" dirty="0"/>
          </a:p>
        </p:txBody>
      </p:sp>
      <p:sp>
        <p:nvSpPr>
          <p:cNvPr id="15" name="Text 13"/>
          <p:cNvSpPr/>
          <p:nvPr/>
        </p:nvSpPr>
        <p:spPr>
          <a:xfrm>
            <a:off x="1028700" y="4558953"/>
            <a:ext cx="4572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2EF"/>
                </a:solidFill>
                <a:latin typeface="Arial" pitchFamily="34" charset="0"/>
                <a:ea typeface="Arial" pitchFamily="34" charset="-122"/>
                <a:cs typeface="Arial" pitchFamily="34" charset="-120"/>
              </a:rPr>
              <a:t>Hackathons &amp; Research</a:t>
            </a:r>
            <a:endParaRPr lang="en-US" sz="1600" dirty="0"/>
          </a:p>
        </p:txBody>
      </p:sp>
      <p:sp>
        <p:nvSpPr>
          <p:cNvPr id="16" name="Text 14"/>
          <p:cNvSpPr/>
          <p:nvPr/>
        </p:nvSpPr>
        <p:spPr>
          <a:xfrm>
            <a:off x="1028700" y="4881513"/>
            <a:ext cx="5029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1st Place CyberScope-AI '25 · SIH Finalist '24 · Authored NLP Ikigai Paper</a:t>
            </a:r>
            <a:endParaRPr lang="en-US" sz="1200" dirty="0"/>
          </a:p>
        </p:txBody>
      </p:sp>
      <p:sp>
        <p:nvSpPr>
          <p:cNvPr id="17" name="Text 15"/>
          <p:cNvSpPr/>
          <p:nvPr/>
        </p:nvSpPr>
        <p:spPr>
          <a:xfrm>
            <a:off x="5751413" y="1910011"/>
            <a:ext cx="45720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A8F"/>
                </a:solidFill>
                <a:latin typeface="Arial" pitchFamily="34" charset="0"/>
                <a:ea typeface="Arial" pitchFamily="34" charset="-122"/>
                <a:cs typeface="Arial" pitchFamily="34" charset="-120"/>
              </a:rPr>
              <a:t>TECHNICAL PROGRESSION</a:t>
            </a:r>
            <a:endParaRPr lang="en-US" sz="1200" dirty="0"/>
          </a:p>
        </p:txBody>
      </p:sp>
      <p:sp>
        <p:nvSpPr>
          <p:cNvPr id="18" name="Shape 16"/>
          <p:cNvSpPr/>
          <p:nvPr/>
        </p:nvSpPr>
        <p:spPr>
          <a:xfrm>
            <a:off x="5751413" y="5403106"/>
            <a:ext cx="5627787" cy="0"/>
          </a:xfrm>
          <a:prstGeom prst="line">
            <a:avLst/>
          </a:prstGeom>
          <a:noFill/>
          <a:ln w="6350">
            <a:solidFill>
              <a:srgbClr val="2A2A2E"/>
            </a:solidFill>
            <a:prstDash val="solid"/>
          </a:ln>
        </p:spPr>
      </p:sp>
      <p:sp>
        <p:nvSpPr>
          <p:cNvPr id="19" name="Shape 17"/>
          <p:cNvSpPr/>
          <p:nvPr/>
        </p:nvSpPr>
        <p:spPr>
          <a:xfrm>
            <a:off x="5751413" y="2278906"/>
            <a:ext cx="5627787" cy="0"/>
          </a:xfrm>
          <a:prstGeom prst="line">
            <a:avLst/>
          </a:prstGeom>
          <a:noFill/>
          <a:ln w="6350">
            <a:solidFill>
              <a:srgbClr val="2A2A2E"/>
            </a:solidFill>
            <a:prstDash val="solid"/>
          </a:ln>
        </p:spPr>
      </p:sp>
      <p:sp>
        <p:nvSpPr>
          <p:cNvPr id="20" name="Text 18"/>
          <p:cNvSpPr/>
          <p:nvPr/>
        </p:nvSpPr>
        <p:spPr>
          <a:xfrm>
            <a:off x="5751413" y="2434481"/>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2023 – 2024</a:t>
            </a:r>
            <a:endParaRPr lang="en-US" sz="1200" dirty="0"/>
          </a:p>
        </p:txBody>
      </p:sp>
      <p:sp>
        <p:nvSpPr>
          <p:cNvPr id="21" name="Text 19"/>
          <p:cNvSpPr/>
          <p:nvPr/>
        </p:nvSpPr>
        <p:spPr>
          <a:xfrm>
            <a:off x="7300813" y="2383681"/>
            <a:ext cx="4572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Core Java Programming &amp; DSA</a:t>
            </a:r>
            <a:endParaRPr lang="en-US" sz="1500" dirty="0"/>
          </a:p>
        </p:txBody>
      </p:sp>
      <p:sp>
        <p:nvSpPr>
          <p:cNvPr id="22" name="Shape 20"/>
          <p:cNvSpPr/>
          <p:nvPr/>
        </p:nvSpPr>
        <p:spPr>
          <a:xfrm>
            <a:off x="5751413" y="2755156"/>
            <a:ext cx="5627787" cy="0"/>
          </a:xfrm>
          <a:prstGeom prst="line">
            <a:avLst/>
          </a:prstGeom>
          <a:noFill/>
          <a:ln w="6350">
            <a:solidFill>
              <a:srgbClr val="2A2A2E"/>
            </a:solidFill>
            <a:prstDash val="solid"/>
          </a:ln>
        </p:spPr>
      </p:sp>
      <p:sp>
        <p:nvSpPr>
          <p:cNvPr id="23" name="Text 21"/>
          <p:cNvSpPr/>
          <p:nvPr/>
        </p:nvSpPr>
        <p:spPr>
          <a:xfrm>
            <a:off x="5751413" y="2910731"/>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2024</a:t>
            </a:r>
            <a:endParaRPr lang="en-US" sz="1200" dirty="0"/>
          </a:p>
        </p:txBody>
      </p:sp>
      <p:sp>
        <p:nvSpPr>
          <p:cNvPr id="24" name="Text 22"/>
          <p:cNvSpPr/>
          <p:nvPr/>
        </p:nvSpPr>
        <p:spPr>
          <a:xfrm>
            <a:off x="7300813" y="2859931"/>
            <a:ext cx="4572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Full-Stack Web &amp; MySQL (Travel Agency MVC Booking)</a:t>
            </a:r>
            <a:endParaRPr lang="en-US" sz="1500" dirty="0"/>
          </a:p>
        </p:txBody>
      </p:sp>
      <p:sp>
        <p:nvSpPr>
          <p:cNvPr id="25" name="Shape 23"/>
          <p:cNvSpPr/>
          <p:nvPr/>
        </p:nvSpPr>
        <p:spPr>
          <a:xfrm>
            <a:off x="5751413" y="3231406"/>
            <a:ext cx="5627787" cy="0"/>
          </a:xfrm>
          <a:prstGeom prst="line">
            <a:avLst/>
          </a:prstGeom>
          <a:noFill/>
          <a:ln w="6350">
            <a:solidFill>
              <a:srgbClr val="2A2A2E"/>
            </a:solidFill>
            <a:prstDash val="solid"/>
          </a:ln>
        </p:spPr>
      </p:sp>
      <p:sp>
        <p:nvSpPr>
          <p:cNvPr id="26" name="Text 24"/>
          <p:cNvSpPr/>
          <p:nvPr/>
        </p:nvSpPr>
        <p:spPr>
          <a:xfrm>
            <a:off x="5751413" y="3386981"/>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2024</a:t>
            </a:r>
            <a:endParaRPr lang="en-US" sz="1200" dirty="0"/>
          </a:p>
        </p:txBody>
      </p:sp>
      <p:sp>
        <p:nvSpPr>
          <p:cNvPr id="27" name="Text 25"/>
          <p:cNvSpPr/>
          <p:nvPr/>
        </p:nvSpPr>
        <p:spPr>
          <a:xfrm>
            <a:off x="7300813" y="3336181"/>
            <a:ext cx="4572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Native Android Development (Stockify, Room DB)</a:t>
            </a:r>
            <a:endParaRPr lang="en-US" sz="1500" dirty="0"/>
          </a:p>
        </p:txBody>
      </p:sp>
      <p:sp>
        <p:nvSpPr>
          <p:cNvPr id="28" name="Shape 26"/>
          <p:cNvSpPr/>
          <p:nvPr/>
        </p:nvSpPr>
        <p:spPr>
          <a:xfrm>
            <a:off x="5751413" y="3707656"/>
            <a:ext cx="5627787" cy="0"/>
          </a:xfrm>
          <a:prstGeom prst="line">
            <a:avLst/>
          </a:prstGeom>
          <a:noFill/>
          <a:ln w="6350">
            <a:solidFill>
              <a:srgbClr val="2A2A2E"/>
            </a:solidFill>
            <a:prstDash val="solid"/>
          </a:ln>
        </p:spPr>
      </p:sp>
      <p:sp>
        <p:nvSpPr>
          <p:cNvPr id="29" name="Text 27"/>
          <p:cNvSpPr/>
          <p:nvPr/>
        </p:nvSpPr>
        <p:spPr>
          <a:xfrm>
            <a:off x="5751413" y="3863231"/>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2024 – 2025</a:t>
            </a:r>
            <a:endParaRPr lang="en-US" sz="1200" dirty="0"/>
          </a:p>
        </p:txBody>
      </p:sp>
      <p:sp>
        <p:nvSpPr>
          <p:cNvPr id="30" name="Text 28"/>
          <p:cNvSpPr/>
          <p:nvPr/>
        </p:nvSpPr>
        <p:spPr>
          <a:xfrm>
            <a:off x="7300813" y="3812431"/>
            <a:ext cx="4572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Test Automation &amp; CI/CD (Selenium, TestNG, GitHub Actions)</a:t>
            </a:r>
            <a:endParaRPr lang="en-US" sz="1500" dirty="0"/>
          </a:p>
        </p:txBody>
      </p:sp>
      <p:sp>
        <p:nvSpPr>
          <p:cNvPr id="31" name="Shape 29"/>
          <p:cNvSpPr/>
          <p:nvPr/>
        </p:nvSpPr>
        <p:spPr>
          <a:xfrm>
            <a:off x="5751413" y="4183906"/>
            <a:ext cx="5627787" cy="0"/>
          </a:xfrm>
          <a:prstGeom prst="line">
            <a:avLst/>
          </a:prstGeom>
          <a:noFill/>
          <a:ln w="6350">
            <a:solidFill>
              <a:srgbClr val="2A2A2E"/>
            </a:solidFill>
            <a:prstDash val="solid"/>
          </a:ln>
        </p:spPr>
      </p:sp>
      <p:sp>
        <p:nvSpPr>
          <p:cNvPr id="32" name="Text 30"/>
          <p:cNvSpPr/>
          <p:nvPr/>
        </p:nvSpPr>
        <p:spPr>
          <a:xfrm>
            <a:off x="5751413" y="4339481"/>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2025</a:t>
            </a:r>
            <a:endParaRPr lang="en-US" sz="1200" dirty="0"/>
          </a:p>
        </p:txBody>
      </p:sp>
      <p:sp>
        <p:nvSpPr>
          <p:cNvPr id="33" name="Text 31"/>
          <p:cNvSpPr/>
          <p:nvPr/>
        </p:nvSpPr>
        <p:spPr>
          <a:xfrm>
            <a:off x="7300813" y="4288681"/>
            <a:ext cx="4572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Full Stack Web &amp; AI/NLP (ELEVARE, FastAPI, LLM)</a:t>
            </a:r>
            <a:endParaRPr lang="en-US" sz="1500" dirty="0"/>
          </a:p>
        </p:txBody>
      </p:sp>
      <p:sp>
        <p:nvSpPr>
          <p:cNvPr id="34" name="Shape 32"/>
          <p:cNvSpPr/>
          <p:nvPr/>
        </p:nvSpPr>
        <p:spPr>
          <a:xfrm>
            <a:off x="5751413" y="4660156"/>
            <a:ext cx="5627787" cy="0"/>
          </a:xfrm>
          <a:prstGeom prst="line">
            <a:avLst/>
          </a:prstGeom>
          <a:noFill/>
          <a:ln w="6350">
            <a:solidFill>
              <a:srgbClr val="2A2A2E"/>
            </a:solidFill>
            <a:prstDash val="solid"/>
          </a:ln>
        </p:spPr>
      </p:sp>
      <p:sp>
        <p:nvSpPr>
          <p:cNvPr id="35" name="Text 33"/>
          <p:cNvSpPr/>
          <p:nvPr/>
        </p:nvSpPr>
        <p:spPr>
          <a:xfrm>
            <a:off x="5751413" y="4815731"/>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2026 – Present</a:t>
            </a:r>
            <a:endParaRPr lang="en-US" sz="1200" dirty="0"/>
          </a:p>
        </p:txBody>
      </p:sp>
      <p:sp>
        <p:nvSpPr>
          <p:cNvPr id="36" name="Text 34"/>
          <p:cNvSpPr/>
          <p:nvPr/>
        </p:nvSpPr>
        <p:spPr>
          <a:xfrm>
            <a:off x="7300813" y="4764931"/>
            <a:ext cx="457200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2EF"/>
                </a:solidFill>
                <a:latin typeface="Arial" pitchFamily="34" charset="0"/>
                <a:ea typeface="Arial" pitchFamily="34" charset="-122"/>
                <a:cs typeface="Arial" pitchFamily="34" charset="-120"/>
              </a:rPr>
              <a:t>Cross-Platform Mobile Development (React Native, TypeScript, CPAD)</a:t>
            </a:r>
            <a:endParaRPr lang="en-US" sz="1500" dirty="0"/>
          </a:p>
        </p:txBody>
      </p:sp>
      <p:sp>
        <p:nvSpPr>
          <p:cNvPr id="37" name="Text 35"/>
          <p:cNvSpPr/>
          <p:nvPr/>
        </p:nvSpPr>
        <p:spPr>
          <a:xfrm>
            <a:off x="812800" y="6236990"/>
            <a:ext cx="365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Arial" pitchFamily="34" charset="0"/>
                <a:ea typeface="Arial" pitchFamily="34" charset="-122"/>
                <a:cs typeface="Arial" pitchFamily="34" charset="-120"/>
              </a:rPr>
              <a:t>DevPortfolio · Varad Vikas Mandhare</a:t>
            </a:r>
            <a:endParaRPr lang="en-US" sz="1200" dirty="0"/>
          </a:p>
        </p:txBody>
      </p:sp>
      <p:sp>
        <p:nvSpPr>
          <p:cNvPr id="38" name="Text 36"/>
          <p:cNvSpPr/>
          <p:nvPr/>
        </p:nvSpPr>
        <p:spPr>
          <a:xfrm>
            <a:off x="10738991" y="6236990"/>
            <a:ext cx="6910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08 / 12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8A8F"/>
                </a:solidFill>
                <a:latin typeface="Arial" pitchFamily="34" charset="0"/>
                <a:ea typeface="Arial" pitchFamily="34" charset="-122"/>
                <a:cs typeface="Arial" pitchFamily="34" charset="-120"/>
              </a:rPr>
              <a:t>09 — KEY FEATURES</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100" kern="0" dirty="0">
                <a:solidFill>
                  <a:srgbClr val="F2F2EF"/>
                </a:solidFill>
                <a:latin typeface="Arial" pitchFamily="34" charset="0"/>
                <a:ea typeface="Arial" pitchFamily="34" charset="-122"/>
                <a:cs typeface="Arial" pitchFamily="34" charset="-120"/>
              </a:rPr>
              <a:t>What the app does.</a:t>
            </a:r>
            <a:endParaRPr lang="en-US" sz="3600" dirty="0"/>
          </a:p>
        </p:txBody>
      </p:sp>
      <p:sp>
        <p:nvSpPr>
          <p:cNvPr id="4" name="Shape 2"/>
          <p:cNvSpPr/>
          <p:nvPr/>
        </p:nvSpPr>
        <p:spPr>
          <a:xfrm>
            <a:off x="815975" y="1913186"/>
            <a:ext cx="3359150" cy="850255"/>
          </a:xfrm>
          <a:prstGeom prst="roundRect">
            <a:avLst>
              <a:gd name="adj" fmla="val 10082"/>
            </a:avLst>
          </a:prstGeom>
          <a:solidFill>
            <a:srgbClr val="17171A"/>
          </a:solidFill>
          <a:ln w="6350">
            <a:solidFill>
              <a:srgbClr val="2A2A2E"/>
            </a:solidFill>
            <a:prstDash val="solid"/>
          </a:ln>
        </p:spPr>
      </p:sp>
      <p:pic>
        <p:nvPicPr>
          <p:cNvPr id="5" name="Image 0" descr="Search">    </p:cNvPr>
          <p:cNvPicPr>
            <a:picLocks noChangeAspect="1"/>
          </p:cNvPicPr>
          <p:nvPr/>
        </p:nvPicPr>
        <p:blipFill>
          <a:blip r:embed="rId1"/>
          <a:srcRect l="0" r="0" t="0" b="0"/>
          <a:stretch/>
        </p:blipFill>
        <p:spPr>
          <a:xfrm>
            <a:off x="971550" y="2211288"/>
            <a:ext cx="254000" cy="254000"/>
          </a:xfrm>
          <a:prstGeom prst="rect">
            <a:avLst/>
          </a:prstGeom>
        </p:spPr>
      </p:pic>
      <p:sp>
        <p:nvSpPr>
          <p:cNvPr id="6" name="Text 3"/>
          <p:cNvSpPr/>
          <p:nvPr/>
        </p:nvSpPr>
        <p:spPr>
          <a:xfrm>
            <a:off x="1352550" y="2085578"/>
            <a:ext cx="25603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2EF"/>
                </a:solidFill>
                <a:latin typeface="Arial" pitchFamily="34" charset="0"/>
                <a:ea typeface="Arial" pitchFamily="34" charset="-122"/>
                <a:cs typeface="Arial" pitchFamily="34" charset="-120"/>
              </a:rPr>
              <a:t>Animated Skill Bars</a:t>
            </a:r>
            <a:endParaRPr lang="en-US" sz="1500" dirty="0"/>
          </a:p>
        </p:txBody>
      </p:sp>
      <p:sp>
        <p:nvSpPr>
          <p:cNvPr id="7" name="Text 4"/>
          <p:cNvSpPr/>
          <p:nvPr/>
        </p:nvSpPr>
        <p:spPr>
          <a:xfrm>
            <a:off x="1352550" y="2377678"/>
            <a:ext cx="2560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Smooth React Native Animated.timing</a:t>
            </a:r>
            <a:endParaRPr lang="en-US" sz="1200" dirty="0"/>
          </a:p>
        </p:txBody>
      </p:sp>
      <p:sp>
        <p:nvSpPr>
          <p:cNvPr id="8" name="Shape 5"/>
          <p:cNvSpPr/>
          <p:nvPr/>
        </p:nvSpPr>
        <p:spPr>
          <a:xfrm>
            <a:off x="4283075" y="1913186"/>
            <a:ext cx="3359150" cy="850255"/>
          </a:xfrm>
          <a:prstGeom prst="roundRect">
            <a:avLst>
              <a:gd name="adj" fmla="val 10082"/>
            </a:avLst>
          </a:prstGeom>
          <a:solidFill>
            <a:srgbClr val="17171A"/>
          </a:solidFill>
          <a:ln w="6350">
            <a:solidFill>
              <a:srgbClr val="2A2A2E"/>
            </a:solidFill>
            <a:prstDash val="solid"/>
          </a:ln>
        </p:spPr>
      </p:sp>
      <p:pic>
        <p:nvPicPr>
          <p:cNvPr id="9" name="Image 1" descr="Book">    </p:cNvPr>
          <p:cNvPicPr>
            <a:picLocks noChangeAspect="1"/>
          </p:cNvPicPr>
          <p:nvPr/>
        </p:nvPicPr>
        <p:blipFill>
          <a:blip r:embed="rId2"/>
          <a:srcRect l="0" r="0" t="0" b="0"/>
          <a:stretch/>
        </p:blipFill>
        <p:spPr>
          <a:xfrm>
            <a:off x="4438650" y="2211288"/>
            <a:ext cx="254000" cy="254000"/>
          </a:xfrm>
          <a:prstGeom prst="rect">
            <a:avLst/>
          </a:prstGeom>
        </p:spPr>
      </p:pic>
      <p:sp>
        <p:nvSpPr>
          <p:cNvPr id="10" name="Text 6"/>
          <p:cNvSpPr/>
          <p:nvPr/>
        </p:nvSpPr>
        <p:spPr>
          <a:xfrm>
            <a:off x="4819650" y="2085578"/>
            <a:ext cx="25603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2EF"/>
                </a:solidFill>
                <a:latin typeface="Arial" pitchFamily="34" charset="0"/>
                <a:ea typeface="Arial" pitchFamily="34" charset="-122"/>
                <a:cs typeface="Arial" pitchFamily="34" charset="-120"/>
              </a:rPr>
              <a:t>Sticky Dynamic Navbar</a:t>
            </a:r>
            <a:endParaRPr lang="en-US" sz="1500" dirty="0"/>
          </a:p>
        </p:txBody>
      </p:sp>
      <p:sp>
        <p:nvSpPr>
          <p:cNvPr id="11" name="Text 7"/>
          <p:cNvSpPr/>
          <p:nvPr/>
        </p:nvSpPr>
        <p:spPr>
          <a:xfrm>
            <a:off x="4819650" y="2377678"/>
            <a:ext cx="2560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Scroll-synced active tab tracking</a:t>
            </a:r>
            <a:endParaRPr lang="en-US" sz="1200" dirty="0"/>
          </a:p>
        </p:txBody>
      </p:sp>
      <p:sp>
        <p:nvSpPr>
          <p:cNvPr id="12" name="Shape 8"/>
          <p:cNvSpPr/>
          <p:nvPr/>
        </p:nvSpPr>
        <p:spPr>
          <a:xfrm>
            <a:off x="815975" y="2871391"/>
            <a:ext cx="3359150" cy="850255"/>
          </a:xfrm>
          <a:prstGeom prst="roundRect">
            <a:avLst>
              <a:gd name="adj" fmla="val 10082"/>
            </a:avLst>
          </a:prstGeom>
          <a:solidFill>
            <a:srgbClr val="17171A"/>
          </a:solidFill>
          <a:ln w="6350">
            <a:solidFill>
              <a:srgbClr val="2A2A2E"/>
            </a:solidFill>
            <a:prstDash val="solid"/>
          </a:ln>
        </p:spPr>
      </p:sp>
      <p:pic>
        <p:nvPicPr>
          <p:cNvPr id="13" name="Image 2" descr="PaperPlane">    </p:cNvPr>
          <p:cNvPicPr>
            <a:picLocks noChangeAspect="1"/>
          </p:cNvPicPr>
          <p:nvPr/>
        </p:nvPicPr>
        <p:blipFill>
          <a:blip r:embed="rId3"/>
          <a:srcRect l="0" r="0" t="0" b="0"/>
          <a:stretch/>
        </p:blipFill>
        <p:spPr>
          <a:xfrm>
            <a:off x="971550" y="3169493"/>
            <a:ext cx="254000" cy="254000"/>
          </a:xfrm>
          <a:prstGeom prst="rect">
            <a:avLst/>
          </a:prstGeom>
        </p:spPr>
      </p:pic>
      <p:sp>
        <p:nvSpPr>
          <p:cNvPr id="14" name="Text 9"/>
          <p:cNvSpPr/>
          <p:nvPr/>
        </p:nvSpPr>
        <p:spPr>
          <a:xfrm>
            <a:off x="1352550" y="3043783"/>
            <a:ext cx="25603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2EF"/>
                </a:solidFill>
                <a:latin typeface="Arial" pitchFamily="34" charset="0"/>
                <a:ea typeface="Arial" pitchFamily="34" charset="-122"/>
                <a:cs typeface="Arial" pitchFamily="34" charset="-120"/>
              </a:rPr>
              <a:t>Direct Contact Actions</a:t>
            </a:r>
            <a:endParaRPr lang="en-US" sz="1500" dirty="0"/>
          </a:p>
        </p:txBody>
      </p:sp>
      <p:sp>
        <p:nvSpPr>
          <p:cNvPr id="15" name="Text 10"/>
          <p:cNvSpPr/>
          <p:nvPr/>
        </p:nvSpPr>
        <p:spPr>
          <a:xfrm>
            <a:off x="1352550" y="3335883"/>
            <a:ext cx="2560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One-tap phone, email, LinkedIn, GitHub</a:t>
            </a:r>
            <a:endParaRPr lang="en-US" sz="1200" dirty="0"/>
          </a:p>
        </p:txBody>
      </p:sp>
      <p:sp>
        <p:nvSpPr>
          <p:cNvPr id="16" name="Shape 11"/>
          <p:cNvSpPr/>
          <p:nvPr/>
        </p:nvSpPr>
        <p:spPr>
          <a:xfrm>
            <a:off x="4283075" y="2871391"/>
            <a:ext cx="3359150" cy="850255"/>
          </a:xfrm>
          <a:prstGeom prst="roundRect">
            <a:avLst>
              <a:gd name="adj" fmla="val 10082"/>
            </a:avLst>
          </a:prstGeom>
          <a:solidFill>
            <a:srgbClr val="17171A"/>
          </a:solidFill>
          <a:ln w="6350">
            <a:solidFill>
              <a:srgbClr val="2A2A2E"/>
            </a:solidFill>
            <a:prstDash val="solid"/>
          </a:ln>
        </p:spPr>
      </p:sp>
      <p:pic>
        <p:nvPicPr>
          <p:cNvPr id="17" name="Image 3" descr="Code">    </p:cNvPr>
          <p:cNvPicPr>
            <a:picLocks noChangeAspect="1"/>
          </p:cNvPicPr>
          <p:nvPr/>
        </p:nvPicPr>
        <p:blipFill>
          <a:blip r:embed="rId4"/>
          <a:srcRect l="0" r="0" t="0" b="0"/>
          <a:stretch/>
        </p:blipFill>
        <p:spPr>
          <a:xfrm>
            <a:off x="4438650" y="3169493"/>
            <a:ext cx="254000" cy="254000"/>
          </a:xfrm>
          <a:prstGeom prst="rect">
            <a:avLst/>
          </a:prstGeom>
        </p:spPr>
      </p:pic>
      <p:sp>
        <p:nvSpPr>
          <p:cNvPr id="18" name="Text 12"/>
          <p:cNvSpPr/>
          <p:nvPr/>
        </p:nvSpPr>
        <p:spPr>
          <a:xfrm>
            <a:off x="4819650" y="3043783"/>
            <a:ext cx="25603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2EF"/>
                </a:solidFill>
                <a:latin typeface="Arial" pitchFamily="34" charset="0"/>
                <a:ea typeface="Arial" pitchFamily="34" charset="-122"/>
                <a:cs typeface="Arial" pitchFamily="34" charset="-120"/>
              </a:rPr>
              <a:t>GitHub Deep Links</a:t>
            </a:r>
            <a:endParaRPr lang="en-US" sz="1500" dirty="0"/>
          </a:p>
        </p:txBody>
      </p:sp>
      <p:sp>
        <p:nvSpPr>
          <p:cNvPr id="19" name="Text 13"/>
          <p:cNvSpPr/>
          <p:nvPr/>
        </p:nvSpPr>
        <p:spPr>
          <a:xfrm>
            <a:off x="4819650" y="3335883"/>
            <a:ext cx="2560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Direct source links for every project</a:t>
            </a:r>
            <a:endParaRPr lang="en-US" sz="1200" dirty="0"/>
          </a:p>
        </p:txBody>
      </p:sp>
      <p:sp>
        <p:nvSpPr>
          <p:cNvPr id="20" name="Shape 14"/>
          <p:cNvSpPr/>
          <p:nvPr/>
        </p:nvSpPr>
        <p:spPr>
          <a:xfrm>
            <a:off x="815975" y="3829596"/>
            <a:ext cx="3359150" cy="850255"/>
          </a:xfrm>
          <a:prstGeom prst="roundRect">
            <a:avLst>
              <a:gd name="adj" fmla="val 10082"/>
            </a:avLst>
          </a:prstGeom>
          <a:solidFill>
            <a:srgbClr val="17171A"/>
          </a:solidFill>
          <a:ln w="6350">
            <a:solidFill>
              <a:srgbClr val="2A2A2E"/>
            </a:solidFill>
            <a:prstDash val="solid"/>
          </a:ln>
        </p:spPr>
      </p:sp>
      <p:pic>
        <p:nvPicPr>
          <p:cNvPr id="21" name="Image 4" descr="Globe">    </p:cNvPr>
          <p:cNvPicPr>
            <a:picLocks noChangeAspect="1"/>
          </p:cNvPicPr>
          <p:nvPr/>
        </p:nvPicPr>
        <p:blipFill>
          <a:blip r:embed="rId5"/>
          <a:srcRect l="0" r="0" t="0" b="0"/>
          <a:stretch/>
        </p:blipFill>
        <p:spPr>
          <a:xfrm>
            <a:off x="971550" y="4127698"/>
            <a:ext cx="254000" cy="254000"/>
          </a:xfrm>
          <a:prstGeom prst="rect">
            <a:avLst/>
          </a:prstGeom>
        </p:spPr>
      </p:pic>
      <p:sp>
        <p:nvSpPr>
          <p:cNvPr id="22" name="Text 15"/>
          <p:cNvSpPr/>
          <p:nvPr/>
        </p:nvSpPr>
        <p:spPr>
          <a:xfrm>
            <a:off x="1352550" y="4001988"/>
            <a:ext cx="25603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2EF"/>
                </a:solidFill>
                <a:latin typeface="Arial" pitchFamily="34" charset="0"/>
                <a:ea typeface="Arial" pitchFamily="34" charset="-122"/>
                <a:cs typeface="Arial" pitchFamily="34" charset="-120"/>
              </a:rPr>
              <a:t>Digital Resume Viewer</a:t>
            </a:r>
            <a:endParaRPr lang="en-US" sz="1500" dirty="0"/>
          </a:p>
        </p:txBody>
      </p:sp>
      <p:sp>
        <p:nvSpPr>
          <p:cNvPr id="23" name="Text 16"/>
          <p:cNvSpPr/>
          <p:nvPr/>
        </p:nvSpPr>
        <p:spPr>
          <a:xfrm>
            <a:off x="1352550" y="4294088"/>
            <a:ext cx="2560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In-app summary + raw GitHub PDF action</a:t>
            </a:r>
            <a:endParaRPr lang="en-US" sz="1200" dirty="0"/>
          </a:p>
        </p:txBody>
      </p:sp>
      <p:sp>
        <p:nvSpPr>
          <p:cNvPr id="24" name="Shape 17"/>
          <p:cNvSpPr/>
          <p:nvPr/>
        </p:nvSpPr>
        <p:spPr>
          <a:xfrm>
            <a:off x="4283075" y="3829596"/>
            <a:ext cx="3359150" cy="850255"/>
          </a:xfrm>
          <a:prstGeom prst="roundRect">
            <a:avLst>
              <a:gd name="adj" fmla="val 10082"/>
            </a:avLst>
          </a:prstGeom>
          <a:solidFill>
            <a:srgbClr val="17171A"/>
          </a:solidFill>
          <a:ln w="6350">
            <a:solidFill>
              <a:srgbClr val="2A2A2E"/>
            </a:solidFill>
            <a:prstDash val="solid"/>
          </a:ln>
        </p:spPr>
      </p:sp>
      <p:pic>
        <p:nvPicPr>
          <p:cNvPr id="25" name="Image 5" descr="Users">    </p:cNvPr>
          <p:cNvPicPr>
            <a:picLocks noChangeAspect="1"/>
          </p:cNvPicPr>
          <p:nvPr/>
        </p:nvPicPr>
        <p:blipFill>
          <a:blip r:embed="rId6"/>
          <a:srcRect l="0" r="0" t="0" b="0"/>
          <a:stretch/>
        </p:blipFill>
        <p:spPr>
          <a:xfrm>
            <a:off x="4438650" y="4127698"/>
            <a:ext cx="254000" cy="254000"/>
          </a:xfrm>
          <a:prstGeom prst="rect">
            <a:avLst/>
          </a:prstGeom>
        </p:spPr>
      </p:pic>
      <p:sp>
        <p:nvSpPr>
          <p:cNvPr id="26" name="Text 18"/>
          <p:cNvSpPr/>
          <p:nvPr/>
        </p:nvSpPr>
        <p:spPr>
          <a:xfrm>
            <a:off x="4819650" y="4001988"/>
            <a:ext cx="25603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2EF"/>
                </a:solidFill>
                <a:latin typeface="Arial" pitchFamily="34" charset="0"/>
                <a:ea typeface="Arial" pitchFamily="34" charset="-122"/>
                <a:cs typeface="Arial" pitchFamily="34" charset="-120"/>
              </a:rPr>
              <a:t>Modular Data Layer</a:t>
            </a:r>
            <a:endParaRPr lang="en-US" sz="1500" dirty="0"/>
          </a:p>
        </p:txBody>
      </p:sp>
      <p:sp>
        <p:nvSpPr>
          <p:cNvPr id="27" name="Text 19"/>
          <p:cNvSpPr/>
          <p:nvPr/>
        </p:nvSpPr>
        <p:spPr>
          <a:xfrm>
            <a:off x="4819650" y="4294088"/>
            <a:ext cx="2560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Isolated portfolio.ts for 100% decoupling</a:t>
            </a:r>
            <a:endParaRPr lang="en-US" sz="1200" dirty="0"/>
          </a:p>
        </p:txBody>
      </p:sp>
      <p:sp>
        <p:nvSpPr>
          <p:cNvPr id="28" name="Shape 20"/>
          <p:cNvSpPr/>
          <p:nvPr/>
        </p:nvSpPr>
        <p:spPr>
          <a:xfrm>
            <a:off x="815975" y="4787801"/>
            <a:ext cx="3359150" cy="850255"/>
          </a:xfrm>
          <a:prstGeom prst="roundRect">
            <a:avLst>
              <a:gd name="adj" fmla="val 10082"/>
            </a:avLst>
          </a:prstGeom>
          <a:solidFill>
            <a:srgbClr val="17171A"/>
          </a:solidFill>
          <a:ln w="6350">
            <a:solidFill>
              <a:srgbClr val="2A2A2E"/>
            </a:solidFill>
            <a:prstDash val="solid"/>
          </a:ln>
        </p:spPr>
      </p:sp>
      <p:pic>
        <p:nvPicPr>
          <p:cNvPr id="29" name="Image 6" descr="Home">    </p:cNvPr>
          <p:cNvPicPr>
            <a:picLocks noChangeAspect="1"/>
          </p:cNvPicPr>
          <p:nvPr/>
        </p:nvPicPr>
        <p:blipFill>
          <a:blip r:embed="rId7"/>
          <a:srcRect l="0" r="0" t="0" b="0"/>
          <a:stretch/>
        </p:blipFill>
        <p:spPr>
          <a:xfrm>
            <a:off x="971550" y="5085904"/>
            <a:ext cx="254000" cy="254000"/>
          </a:xfrm>
          <a:prstGeom prst="rect">
            <a:avLst/>
          </a:prstGeom>
        </p:spPr>
      </p:pic>
      <p:sp>
        <p:nvSpPr>
          <p:cNvPr id="30" name="Text 21"/>
          <p:cNvSpPr/>
          <p:nvPr/>
        </p:nvSpPr>
        <p:spPr>
          <a:xfrm>
            <a:off x="1352550" y="4960193"/>
            <a:ext cx="25603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2EF"/>
                </a:solidFill>
                <a:latin typeface="Arial" pitchFamily="34" charset="0"/>
                <a:ea typeface="Arial" pitchFamily="34" charset="-122"/>
                <a:cs typeface="Arial" pitchFamily="34" charset="-120"/>
              </a:rPr>
              <a:t>Dark Navy Theme</a:t>
            </a:r>
            <a:endParaRPr lang="en-US" sz="1500" dirty="0"/>
          </a:p>
        </p:txBody>
      </p:sp>
      <p:sp>
        <p:nvSpPr>
          <p:cNvPr id="31" name="Text 22"/>
          <p:cNvSpPr/>
          <p:nvPr/>
        </p:nvSpPr>
        <p:spPr>
          <a:xfrm>
            <a:off x="1352550" y="5252293"/>
            <a:ext cx="2560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Harmonized tokens in theme.ts</a:t>
            </a:r>
            <a:endParaRPr lang="en-US" sz="1200" dirty="0"/>
          </a:p>
        </p:txBody>
      </p:sp>
      <p:sp>
        <p:nvSpPr>
          <p:cNvPr id="32" name="Shape 23"/>
          <p:cNvSpPr/>
          <p:nvPr/>
        </p:nvSpPr>
        <p:spPr>
          <a:xfrm>
            <a:off x="4283075" y="4787801"/>
            <a:ext cx="3359150" cy="850255"/>
          </a:xfrm>
          <a:prstGeom prst="roundRect">
            <a:avLst>
              <a:gd name="adj" fmla="val 10082"/>
            </a:avLst>
          </a:prstGeom>
          <a:solidFill>
            <a:srgbClr val="17171A"/>
          </a:solidFill>
          <a:ln w="6350">
            <a:solidFill>
              <a:srgbClr val="2A2A2E"/>
            </a:solidFill>
            <a:prstDash val="solid"/>
          </a:ln>
        </p:spPr>
      </p:sp>
      <p:pic>
        <p:nvPicPr>
          <p:cNvPr id="33" name="Image 7" descr="Tool">    </p:cNvPr>
          <p:cNvPicPr>
            <a:picLocks noChangeAspect="1"/>
          </p:cNvPicPr>
          <p:nvPr/>
        </p:nvPicPr>
        <p:blipFill>
          <a:blip r:embed="rId8"/>
          <a:srcRect l="0" r="0" t="0" b="0"/>
          <a:stretch/>
        </p:blipFill>
        <p:spPr>
          <a:xfrm>
            <a:off x="4438650" y="5085904"/>
            <a:ext cx="254000" cy="254000"/>
          </a:xfrm>
          <a:prstGeom prst="rect">
            <a:avLst/>
          </a:prstGeom>
        </p:spPr>
      </p:pic>
      <p:sp>
        <p:nvSpPr>
          <p:cNvPr id="34" name="Text 24"/>
          <p:cNvSpPr/>
          <p:nvPr/>
        </p:nvSpPr>
        <p:spPr>
          <a:xfrm>
            <a:off x="4819650" y="4960193"/>
            <a:ext cx="25603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2EF"/>
                </a:solidFill>
                <a:latin typeface="Arial" pitchFamily="34" charset="0"/>
                <a:ea typeface="Arial" pitchFamily="34" charset="-122"/>
                <a:cs typeface="Arial" pitchFamily="34" charset="-120"/>
              </a:rPr>
              <a:t>Unit Tested Suite</a:t>
            </a:r>
            <a:endParaRPr lang="en-US" sz="1500" dirty="0"/>
          </a:p>
        </p:txBody>
      </p:sp>
      <p:sp>
        <p:nvSpPr>
          <p:cNvPr id="35" name="Text 25"/>
          <p:cNvSpPr/>
          <p:nvPr/>
        </p:nvSpPr>
        <p:spPr>
          <a:xfrm>
            <a:off x="4819650" y="5252293"/>
            <a:ext cx="2560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6"/>
                </a:solidFill>
                <a:latin typeface="Arial" pitchFamily="34" charset="0"/>
                <a:ea typeface="Arial" pitchFamily="34" charset="-122"/>
                <a:cs typeface="Arial" pitchFamily="34" charset="-120"/>
              </a:rPr>
              <a:t>100% Jest test pass across screens</a:t>
            </a:r>
            <a:endParaRPr lang="en-US" sz="1200" dirty="0"/>
          </a:p>
        </p:txBody>
      </p:sp>
      <p:sp>
        <p:nvSpPr>
          <p:cNvPr id="36" name="Shape 26"/>
          <p:cNvSpPr/>
          <p:nvPr/>
        </p:nvSpPr>
        <p:spPr>
          <a:xfrm>
            <a:off x="7953375" y="1913186"/>
            <a:ext cx="1619250" cy="3435350"/>
          </a:xfrm>
          <a:prstGeom prst="roundRect">
            <a:avLst>
              <a:gd name="adj" fmla="val 15490"/>
            </a:avLst>
          </a:prstGeom>
          <a:solidFill>
            <a:srgbClr val="050506"/>
          </a:solidFill>
          <a:ln w="6350">
            <a:solidFill>
              <a:srgbClr val="2A2A2E"/>
            </a:solidFill>
            <a:prstDash val="solid"/>
          </a:ln>
          <a:effectLst>
            <a:outerShdw sx="100000" sy="100000" kx="0" ky="0" algn="bl" rotWithShape="0" blurRad="762000" dist="254000" dir="5400000">
              <a:srgbClr val="000000">
                <a:alpha val="55000"/>
              </a:srgbClr>
            </a:outerShdw>
          </a:effectLst>
        </p:spPr>
      </p:sp>
      <p:pic>
        <p:nvPicPr>
          <p:cNvPr id="37" name="Image 8" descr="Contact screen">    </p:cNvPr>
          <p:cNvPicPr>
            <a:picLocks noChangeAspect="1"/>
          </p:cNvPicPr>
          <p:nvPr/>
        </p:nvPicPr>
        <p:blipFill>
          <a:blip r:embed="rId9"/>
          <a:srcRect l="0" r="0" t="29" b="29"/>
          <a:stretch/>
        </p:blipFill>
        <p:spPr>
          <a:xfrm>
            <a:off x="8020050" y="1979861"/>
            <a:ext cx="1485900" cy="3302000"/>
          </a:xfrm>
          <a:prstGeom prst="rect">
            <a:avLst/>
          </a:prstGeom>
        </p:spPr>
      </p:pic>
      <p:sp>
        <p:nvSpPr>
          <p:cNvPr id="38" name="Text 27"/>
          <p:cNvSpPr/>
          <p:nvPr/>
        </p:nvSpPr>
        <p:spPr>
          <a:xfrm>
            <a:off x="8500368" y="5427911"/>
            <a:ext cx="1097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Arial" pitchFamily="34" charset="0"/>
                <a:ea typeface="Arial" pitchFamily="34" charset="-122"/>
                <a:cs typeface="Arial" pitchFamily="34" charset="-120"/>
              </a:rPr>
              <a:t>Certs</a:t>
            </a:r>
            <a:endParaRPr lang="en-US" sz="1200" dirty="0"/>
          </a:p>
        </p:txBody>
      </p:sp>
      <p:sp>
        <p:nvSpPr>
          <p:cNvPr id="39" name="Shape 28"/>
          <p:cNvSpPr/>
          <p:nvPr/>
        </p:nvSpPr>
        <p:spPr>
          <a:xfrm>
            <a:off x="9731375" y="1913186"/>
            <a:ext cx="1644650" cy="3435350"/>
          </a:xfrm>
          <a:prstGeom prst="roundRect">
            <a:avLst>
              <a:gd name="adj" fmla="val 15251"/>
            </a:avLst>
          </a:prstGeom>
          <a:solidFill>
            <a:srgbClr val="050506"/>
          </a:solidFill>
          <a:ln w="6350">
            <a:solidFill>
              <a:srgbClr val="2A2A2E"/>
            </a:solidFill>
            <a:prstDash val="solid"/>
          </a:ln>
          <a:effectLst>
            <a:outerShdw sx="100000" sy="100000" kx="0" ky="0" algn="bl" rotWithShape="0" blurRad="762000" dist="254000" dir="5400000">
              <a:srgbClr val="000000">
                <a:alpha val="55000"/>
              </a:srgbClr>
            </a:outerShdw>
          </a:effectLst>
        </p:spPr>
      </p:sp>
      <p:pic>
        <p:nvPicPr>
          <p:cNvPr id="40" name="Image 9" descr="Resume screen">    </p:cNvPr>
          <p:cNvPicPr>
            <a:picLocks noChangeAspect="1"/>
          </p:cNvPicPr>
          <p:nvPr/>
        </p:nvPicPr>
        <p:blipFill>
          <a:blip r:embed="rId10"/>
          <a:srcRect l="3" r="3" t="0" b="0"/>
          <a:stretch/>
        </p:blipFill>
        <p:spPr>
          <a:xfrm>
            <a:off x="9798050" y="1979861"/>
            <a:ext cx="1511300" cy="3302000"/>
          </a:xfrm>
          <a:prstGeom prst="rect">
            <a:avLst/>
          </a:prstGeom>
        </p:spPr>
      </p:pic>
      <p:sp>
        <p:nvSpPr>
          <p:cNvPr id="41" name="Text 29"/>
          <p:cNvSpPr/>
          <p:nvPr/>
        </p:nvSpPr>
        <p:spPr>
          <a:xfrm>
            <a:off x="10269934" y="5427911"/>
            <a:ext cx="1097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Arial" pitchFamily="34" charset="0"/>
                <a:ea typeface="Arial" pitchFamily="34" charset="-122"/>
                <a:cs typeface="Arial" pitchFamily="34" charset="-120"/>
              </a:rPr>
              <a:t>Contact</a:t>
            </a:r>
            <a:endParaRPr lang="en-US" sz="1200" dirty="0"/>
          </a:p>
        </p:txBody>
      </p:sp>
      <p:sp>
        <p:nvSpPr>
          <p:cNvPr id="42" name="Text 30"/>
          <p:cNvSpPr/>
          <p:nvPr/>
        </p:nvSpPr>
        <p:spPr>
          <a:xfrm>
            <a:off x="812800" y="6236990"/>
            <a:ext cx="365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Arial" pitchFamily="34" charset="0"/>
                <a:ea typeface="Arial" pitchFamily="34" charset="-122"/>
                <a:cs typeface="Arial" pitchFamily="34" charset="-120"/>
              </a:rPr>
              <a:t>DevPortfolio · Varad Vikas Mandhare</a:t>
            </a:r>
            <a:endParaRPr lang="en-US" sz="1200" dirty="0"/>
          </a:p>
        </p:txBody>
      </p:sp>
      <p:sp>
        <p:nvSpPr>
          <p:cNvPr id="43" name="Text 31"/>
          <p:cNvSpPr/>
          <p:nvPr/>
        </p:nvSpPr>
        <p:spPr>
          <a:xfrm>
            <a:off x="10738991" y="6236990"/>
            <a:ext cx="6910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09 / 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8A8F"/>
                </a:solidFill>
                <a:latin typeface="Arial" pitchFamily="34" charset="0"/>
                <a:ea typeface="Arial" pitchFamily="34" charset="-122"/>
                <a:cs typeface="Arial" pitchFamily="34" charset="-120"/>
              </a:rPr>
              <a:t>10 — UI / UX DESIGN</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100" kern="0" dirty="0">
                <a:solidFill>
                  <a:srgbClr val="F2F2EF"/>
                </a:solidFill>
                <a:latin typeface="Arial" pitchFamily="34" charset="0"/>
                <a:ea typeface="Arial" pitchFamily="34" charset="-122"/>
                <a:cs typeface="Arial" pitchFamily="34" charset="-120"/>
              </a:rPr>
              <a:t>Dark aesthetic by intention.</a:t>
            </a:r>
            <a:endParaRPr lang="en-US" sz="3600" dirty="0"/>
          </a:p>
        </p:txBody>
      </p:sp>
      <p:sp>
        <p:nvSpPr>
          <p:cNvPr id="4" name="Text 2"/>
          <p:cNvSpPr/>
          <p:nvPr/>
        </p:nvSpPr>
        <p:spPr>
          <a:xfrm>
            <a:off x="812800" y="1910011"/>
            <a:ext cx="82296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1A1A6"/>
                </a:solidFill>
                <a:latin typeface="Arial" pitchFamily="34" charset="0"/>
                <a:ea typeface="Arial" pitchFamily="34" charset="-122"/>
                <a:cs typeface="Arial" pitchFamily="34" charset="-120"/>
              </a:rPr>
              <a:t>Inspired by modern developer tooling: high contrast, vibrant multi-color accents, and fluid tactile feedback.</a:t>
            </a:r>
            <a:endParaRPr lang="en-US" sz="1600" dirty="0"/>
          </a:p>
        </p:txBody>
      </p:sp>
      <p:sp>
        <p:nvSpPr>
          <p:cNvPr id="5" name="Shape 3"/>
          <p:cNvSpPr/>
          <p:nvPr/>
        </p:nvSpPr>
        <p:spPr>
          <a:xfrm>
            <a:off x="812800" y="2736106"/>
            <a:ext cx="3927475" cy="0"/>
          </a:xfrm>
          <a:prstGeom prst="line">
            <a:avLst/>
          </a:prstGeom>
          <a:noFill/>
          <a:ln w="6350">
            <a:solidFill>
              <a:srgbClr val="2A2A2E"/>
            </a:solidFill>
            <a:prstDash val="solid"/>
          </a:ln>
        </p:spPr>
      </p:sp>
      <p:sp>
        <p:nvSpPr>
          <p:cNvPr id="6" name="Text 4"/>
          <p:cNvSpPr/>
          <p:nvPr/>
        </p:nvSpPr>
        <p:spPr>
          <a:xfrm>
            <a:off x="812800" y="291708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01</a:t>
            </a:r>
            <a:endParaRPr lang="en-US" sz="1200" dirty="0"/>
          </a:p>
        </p:txBody>
      </p:sp>
      <p:sp>
        <p:nvSpPr>
          <p:cNvPr id="7" name="Text 5"/>
          <p:cNvSpPr/>
          <p:nvPr/>
        </p:nvSpPr>
        <p:spPr>
          <a:xfrm>
            <a:off x="1122710" y="2866281"/>
            <a:ext cx="36576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Dark navy canvas (#0F0F1A / #1A1A2E)</a:t>
            </a:r>
            <a:endParaRPr lang="en-US" sz="1500" dirty="0"/>
          </a:p>
        </p:txBody>
      </p:sp>
      <p:sp>
        <p:nvSpPr>
          <p:cNvPr id="8" name="Shape 6"/>
          <p:cNvSpPr/>
          <p:nvPr/>
        </p:nvSpPr>
        <p:spPr>
          <a:xfrm>
            <a:off x="812800" y="3263156"/>
            <a:ext cx="3927475" cy="0"/>
          </a:xfrm>
          <a:prstGeom prst="line">
            <a:avLst/>
          </a:prstGeom>
          <a:noFill/>
          <a:ln w="6350">
            <a:solidFill>
              <a:srgbClr val="2A2A2E"/>
            </a:solidFill>
            <a:prstDash val="solid"/>
          </a:ln>
        </p:spPr>
      </p:sp>
      <p:sp>
        <p:nvSpPr>
          <p:cNvPr id="9" name="Text 7"/>
          <p:cNvSpPr/>
          <p:nvPr/>
        </p:nvSpPr>
        <p:spPr>
          <a:xfrm>
            <a:off x="812800" y="344413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02</a:t>
            </a:r>
            <a:endParaRPr lang="en-US" sz="1200" dirty="0"/>
          </a:p>
        </p:txBody>
      </p:sp>
      <p:sp>
        <p:nvSpPr>
          <p:cNvPr id="10" name="Text 8"/>
          <p:cNvSpPr/>
          <p:nvPr/>
        </p:nvSpPr>
        <p:spPr>
          <a:xfrm>
            <a:off x="1122710" y="3393331"/>
            <a:ext cx="36576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Multi-color accents (Purple, Cyan, Green)</a:t>
            </a:r>
            <a:endParaRPr lang="en-US" sz="1500" dirty="0"/>
          </a:p>
        </p:txBody>
      </p:sp>
      <p:sp>
        <p:nvSpPr>
          <p:cNvPr id="11" name="Shape 9"/>
          <p:cNvSpPr/>
          <p:nvPr/>
        </p:nvSpPr>
        <p:spPr>
          <a:xfrm>
            <a:off x="812800" y="3790206"/>
            <a:ext cx="3927475" cy="0"/>
          </a:xfrm>
          <a:prstGeom prst="line">
            <a:avLst/>
          </a:prstGeom>
          <a:noFill/>
          <a:ln w="6350">
            <a:solidFill>
              <a:srgbClr val="2A2A2E"/>
            </a:solidFill>
            <a:prstDash val="solid"/>
          </a:ln>
        </p:spPr>
      </p:sp>
      <p:sp>
        <p:nvSpPr>
          <p:cNvPr id="12" name="Text 10"/>
          <p:cNvSpPr/>
          <p:nvPr/>
        </p:nvSpPr>
        <p:spPr>
          <a:xfrm>
            <a:off x="812800" y="397118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03</a:t>
            </a:r>
            <a:endParaRPr lang="en-US" sz="1200" dirty="0"/>
          </a:p>
        </p:txBody>
      </p:sp>
      <p:sp>
        <p:nvSpPr>
          <p:cNvPr id="13" name="Text 11"/>
          <p:cNvSpPr/>
          <p:nvPr/>
        </p:nvSpPr>
        <p:spPr>
          <a:xfrm>
            <a:off x="1122710" y="3920381"/>
            <a:ext cx="36576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Strong visual hierarchy &amp; card containers</a:t>
            </a:r>
            <a:endParaRPr lang="en-US" sz="1500" dirty="0"/>
          </a:p>
        </p:txBody>
      </p:sp>
      <p:sp>
        <p:nvSpPr>
          <p:cNvPr id="14" name="Shape 12"/>
          <p:cNvSpPr/>
          <p:nvPr/>
        </p:nvSpPr>
        <p:spPr>
          <a:xfrm>
            <a:off x="812800" y="4317256"/>
            <a:ext cx="3927475" cy="0"/>
          </a:xfrm>
          <a:prstGeom prst="line">
            <a:avLst/>
          </a:prstGeom>
          <a:noFill/>
          <a:ln w="6350">
            <a:solidFill>
              <a:srgbClr val="2A2A2E"/>
            </a:solidFill>
            <a:prstDash val="solid"/>
          </a:ln>
        </p:spPr>
      </p:sp>
      <p:sp>
        <p:nvSpPr>
          <p:cNvPr id="15" name="Text 13"/>
          <p:cNvSpPr/>
          <p:nvPr/>
        </p:nvSpPr>
        <p:spPr>
          <a:xfrm>
            <a:off x="812800" y="449823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04</a:t>
            </a:r>
            <a:endParaRPr lang="en-US" sz="1200" dirty="0"/>
          </a:p>
        </p:txBody>
      </p:sp>
      <p:sp>
        <p:nvSpPr>
          <p:cNvPr id="16" name="Text 14"/>
          <p:cNvSpPr/>
          <p:nvPr/>
        </p:nvSpPr>
        <p:spPr>
          <a:xfrm>
            <a:off x="1122710" y="4447431"/>
            <a:ext cx="36576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Animated progress bars (Animated API)</a:t>
            </a:r>
            <a:endParaRPr lang="en-US" sz="1500" dirty="0"/>
          </a:p>
        </p:txBody>
      </p:sp>
      <p:sp>
        <p:nvSpPr>
          <p:cNvPr id="17" name="Shape 15"/>
          <p:cNvSpPr/>
          <p:nvPr/>
        </p:nvSpPr>
        <p:spPr>
          <a:xfrm>
            <a:off x="812800" y="4844306"/>
            <a:ext cx="3927475" cy="0"/>
          </a:xfrm>
          <a:prstGeom prst="line">
            <a:avLst/>
          </a:prstGeom>
          <a:noFill/>
          <a:ln w="6350">
            <a:solidFill>
              <a:srgbClr val="2A2A2E"/>
            </a:solidFill>
            <a:prstDash val="solid"/>
          </a:ln>
        </p:spPr>
      </p:sp>
      <p:sp>
        <p:nvSpPr>
          <p:cNvPr id="18" name="Text 16"/>
          <p:cNvSpPr/>
          <p:nvPr/>
        </p:nvSpPr>
        <p:spPr>
          <a:xfrm>
            <a:off x="812800" y="502528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05</a:t>
            </a:r>
            <a:endParaRPr lang="en-US" sz="1200" dirty="0"/>
          </a:p>
        </p:txBody>
      </p:sp>
      <p:sp>
        <p:nvSpPr>
          <p:cNvPr id="19" name="Text 17"/>
          <p:cNvSpPr/>
          <p:nvPr/>
        </p:nvSpPr>
        <p:spPr>
          <a:xfrm>
            <a:off x="1122710" y="4974481"/>
            <a:ext cx="36576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Thin border separators (#2A2A4A)</a:t>
            </a:r>
            <a:endParaRPr lang="en-US" sz="1500" dirty="0"/>
          </a:p>
        </p:txBody>
      </p:sp>
      <p:sp>
        <p:nvSpPr>
          <p:cNvPr id="20" name="Shape 18"/>
          <p:cNvSpPr/>
          <p:nvPr/>
        </p:nvSpPr>
        <p:spPr>
          <a:xfrm>
            <a:off x="5045075" y="2736106"/>
            <a:ext cx="3927475" cy="0"/>
          </a:xfrm>
          <a:prstGeom prst="line">
            <a:avLst/>
          </a:prstGeom>
          <a:noFill/>
          <a:ln w="6350">
            <a:solidFill>
              <a:srgbClr val="2A2A2E"/>
            </a:solidFill>
            <a:prstDash val="solid"/>
          </a:ln>
        </p:spPr>
      </p:sp>
      <p:sp>
        <p:nvSpPr>
          <p:cNvPr id="21" name="Text 19"/>
          <p:cNvSpPr/>
          <p:nvPr/>
        </p:nvSpPr>
        <p:spPr>
          <a:xfrm>
            <a:off x="5045075" y="291708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06</a:t>
            </a:r>
            <a:endParaRPr lang="en-US" sz="1200" dirty="0"/>
          </a:p>
        </p:txBody>
      </p:sp>
      <p:sp>
        <p:nvSpPr>
          <p:cNvPr id="22" name="Text 20"/>
          <p:cNvSpPr/>
          <p:nvPr/>
        </p:nvSpPr>
        <p:spPr>
          <a:xfrm>
            <a:off x="5354985" y="2866281"/>
            <a:ext cx="36576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Minimalist stats &amp; quick skill badges</a:t>
            </a:r>
            <a:endParaRPr lang="en-US" sz="1500" dirty="0"/>
          </a:p>
        </p:txBody>
      </p:sp>
      <p:sp>
        <p:nvSpPr>
          <p:cNvPr id="23" name="Shape 21"/>
          <p:cNvSpPr/>
          <p:nvPr/>
        </p:nvSpPr>
        <p:spPr>
          <a:xfrm>
            <a:off x="5045075" y="3263156"/>
            <a:ext cx="3927475" cy="0"/>
          </a:xfrm>
          <a:prstGeom prst="line">
            <a:avLst/>
          </a:prstGeom>
          <a:noFill/>
          <a:ln w="6350">
            <a:solidFill>
              <a:srgbClr val="2A2A2E"/>
            </a:solidFill>
            <a:prstDash val="solid"/>
          </a:ln>
        </p:spPr>
      </p:sp>
      <p:sp>
        <p:nvSpPr>
          <p:cNvPr id="24" name="Text 22"/>
          <p:cNvSpPr/>
          <p:nvPr/>
        </p:nvSpPr>
        <p:spPr>
          <a:xfrm>
            <a:off x="5045075" y="344413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07</a:t>
            </a:r>
            <a:endParaRPr lang="en-US" sz="1200" dirty="0"/>
          </a:p>
        </p:txBody>
      </p:sp>
      <p:sp>
        <p:nvSpPr>
          <p:cNvPr id="25" name="Text 23"/>
          <p:cNvSpPr/>
          <p:nvPr/>
        </p:nvSpPr>
        <p:spPr>
          <a:xfrm>
            <a:off x="5354985" y="3393331"/>
            <a:ext cx="36576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Ergonomic touch targets with feedback</a:t>
            </a:r>
            <a:endParaRPr lang="en-US" sz="1500" dirty="0"/>
          </a:p>
        </p:txBody>
      </p:sp>
      <p:sp>
        <p:nvSpPr>
          <p:cNvPr id="26" name="Shape 24"/>
          <p:cNvSpPr/>
          <p:nvPr/>
        </p:nvSpPr>
        <p:spPr>
          <a:xfrm>
            <a:off x="5045075" y="3790206"/>
            <a:ext cx="3927475" cy="0"/>
          </a:xfrm>
          <a:prstGeom prst="line">
            <a:avLst/>
          </a:prstGeom>
          <a:noFill/>
          <a:ln w="6350">
            <a:solidFill>
              <a:srgbClr val="2A2A2E"/>
            </a:solidFill>
            <a:prstDash val="solid"/>
          </a:ln>
        </p:spPr>
      </p:sp>
      <p:sp>
        <p:nvSpPr>
          <p:cNvPr id="27" name="Text 25"/>
          <p:cNvSpPr/>
          <p:nvPr/>
        </p:nvSpPr>
        <p:spPr>
          <a:xfrm>
            <a:off x="5045075" y="397118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08</a:t>
            </a:r>
            <a:endParaRPr lang="en-US" sz="1200" dirty="0"/>
          </a:p>
        </p:txBody>
      </p:sp>
      <p:sp>
        <p:nvSpPr>
          <p:cNvPr id="28" name="Text 26"/>
          <p:cNvSpPr/>
          <p:nvPr/>
        </p:nvSpPr>
        <p:spPr>
          <a:xfrm>
            <a:off x="5354985" y="3920381"/>
            <a:ext cx="36576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Dynamic top navigation with auto-sync</a:t>
            </a:r>
            <a:endParaRPr lang="en-US" sz="1500" dirty="0"/>
          </a:p>
        </p:txBody>
      </p:sp>
      <p:sp>
        <p:nvSpPr>
          <p:cNvPr id="29" name="Shape 27"/>
          <p:cNvSpPr/>
          <p:nvPr/>
        </p:nvSpPr>
        <p:spPr>
          <a:xfrm>
            <a:off x="5045075" y="4317256"/>
            <a:ext cx="3927475" cy="0"/>
          </a:xfrm>
          <a:prstGeom prst="line">
            <a:avLst/>
          </a:prstGeom>
          <a:noFill/>
          <a:ln w="6350">
            <a:solidFill>
              <a:srgbClr val="2A2A2E"/>
            </a:solidFill>
            <a:prstDash val="solid"/>
          </a:ln>
        </p:spPr>
      </p:sp>
      <p:sp>
        <p:nvSpPr>
          <p:cNvPr id="30" name="Text 28"/>
          <p:cNvSpPr/>
          <p:nvPr/>
        </p:nvSpPr>
        <p:spPr>
          <a:xfrm>
            <a:off x="5045075" y="449823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09</a:t>
            </a:r>
            <a:endParaRPr lang="en-US" sz="1200" dirty="0"/>
          </a:p>
        </p:txBody>
      </p:sp>
      <p:sp>
        <p:nvSpPr>
          <p:cNvPr id="31" name="Text 29"/>
          <p:cNvSpPr/>
          <p:nvPr/>
        </p:nvSpPr>
        <p:spPr>
          <a:xfrm>
            <a:off x="5354985" y="4447431"/>
            <a:ext cx="36576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Safe area &amp; notch adaptation</a:t>
            </a:r>
            <a:endParaRPr lang="en-US" sz="1500" dirty="0"/>
          </a:p>
        </p:txBody>
      </p:sp>
      <p:sp>
        <p:nvSpPr>
          <p:cNvPr id="32" name="Shape 30"/>
          <p:cNvSpPr/>
          <p:nvPr/>
        </p:nvSpPr>
        <p:spPr>
          <a:xfrm>
            <a:off x="9585325" y="1913186"/>
            <a:ext cx="1790700" cy="3816350"/>
          </a:xfrm>
          <a:prstGeom prst="roundRect">
            <a:avLst>
              <a:gd name="adj" fmla="val 14007"/>
            </a:avLst>
          </a:prstGeom>
          <a:solidFill>
            <a:srgbClr val="050506"/>
          </a:solidFill>
          <a:ln w="6350">
            <a:solidFill>
              <a:srgbClr val="2A2A2E"/>
            </a:solidFill>
            <a:prstDash val="solid"/>
          </a:ln>
          <a:effectLst>
            <a:outerShdw sx="100000" sy="100000" kx="0" ky="0" algn="bl" rotWithShape="0" blurRad="762000" dist="254000" dir="5400000">
              <a:srgbClr val="000000">
                <a:alpha val="55000"/>
              </a:srgbClr>
            </a:outerShdw>
          </a:effectLst>
        </p:spPr>
      </p:sp>
      <p:pic>
        <p:nvPicPr>
          <p:cNvPr id="33" name="Image 0" descr="Project Details screen showing numbered sections and thin separators">    </p:cNvPr>
          <p:cNvPicPr>
            <a:picLocks noChangeAspect="1"/>
          </p:cNvPicPr>
          <p:nvPr/>
        </p:nvPicPr>
        <p:blipFill>
          <a:blip r:embed="rId1"/>
          <a:srcRect l="74" r="74" t="0" b="0"/>
          <a:stretch/>
        </p:blipFill>
        <p:spPr>
          <a:xfrm>
            <a:off x="9652000" y="1979861"/>
            <a:ext cx="1657350" cy="3683000"/>
          </a:xfrm>
          <a:prstGeom prst="rect">
            <a:avLst/>
          </a:prstGeom>
        </p:spPr>
      </p:pic>
      <p:sp>
        <p:nvSpPr>
          <p:cNvPr id="34" name="Text 31"/>
          <p:cNvSpPr/>
          <p:nvPr/>
        </p:nvSpPr>
        <p:spPr>
          <a:xfrm>
            <a:off x="812800" y="6236990"/>
            <a:ext cx="365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Arial" pitchFamily="34" charset="0"/>
                <a:ea typeface="Arial" pitchFamily="34" charset="-122"/>
                <a:cs typeface="Arial" pitchFamily="34" charset="-120"/>
              </a:rPr>
              <a:t>DevPortfolio · Varad Vikas Mandhare</a:t>
            </a:r>
            <a:endParaRPr lang="en-US" sz="1200" dirty="0"/>
          </a:p>
        </p:txBody>
      </p:sp>
      <p:sp>
        <p:nvSpPr>
          <p:cNvPr id="35" name="Text 32"/>
          <p:cNvSpPr/>
          <p:nvPr/>
        </p:nvSpPr>
        <p:spPr>
          <a:xfrm>
            <a:off x="10738991" y="6236990"/>
            <a:ext cx="6910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10 /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8A8F"/>
                </a:solidFill>
                <a:latin typeface="Arial" pitchFamily="34" charset="0"/>
                <a:ea typeface="Arial" pitchFamily="34" charset="-122"/>
                <a:cs typeface="Arial" pitchFamily="34" charset="-120"/>
              </a:rPr>
              <a:t>11 — TESTING AND VALIDATION</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100" kern="0" dirty="0">
                <a:solidFill>
                  <a:srgbClr val="F2F2EF"/>
                </a:solidFill>
                <a:latin typeface="Arial" pitchFamily="34" charset="0"/>
                <a:ea typeface="Arial" pitchFamily="34" charset="-122"/>
                <a:cs typeface="Arial" pitchFamily="34" charset="-120"/>
              </a:rPr>
              <a:t>Verified on Android.</a:t>
            </a:r>
            <a:endParaRPr lang="en-US" sz="3600" dirty="0"/>
          </a:p>
        </p:txBody>
      </p:sp>
      <p:sp>
        <p:nvSpPr>
          <p:cNvPr id="4" name="Text 2"/>
          <p:cNvSpPr/>
          <p:nvPr/>
        </p:nvSpPr>
        <p:spPr>
          <a:xfrm>
            <a:off x="812800" y="1910011"/>
            <a:ext cx="54864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A8F"/>
                </a:solidFill>
                <a:latin typeface="Arial" pitchFamily="34" charset="0"/>
                <a:ea typeface="Arial" pitchFamily="34" charset="-122"/>
                <a:cs typeface="Arial" pitchFamily="34" charset="-120"/>
              </a:rPr>
              <a:t>FLOWS TESTED ON PHYSICAL ANDROID DEVICE (VIVO 1919)</a:t>
            </a:r>
            <a:endParaRPr lang="en-US" sz="1200" dirty="0"/>
          </a:p>
        </p:txBody>
      </p:sp>
      <p:sp>
        <p:nvSpPr>
          <p:cNvPr id="5" name="Shape 3"/>
          <p:cNvSpPr/>
          <p:nvPr/>
        </p:nvSpPr>
        <p:spPr>
          <a:xfrm>
            <a:off x="812800" y="4672707"/>
            <a:ext cx="2588419" cy="0"/>
          </a:xfrm>
          <a:prstGeom prst="line">
            <a:avLst/>
          </a:prstGeom>
          <a:noFill/>
          <a:ln w="6350">
            <a:solidFill>
              <a:srgbClr val="2A2A2E"/>
            </a:solidFill>
            <a:prstDash val="solid"/>
          </a:ln>
        </p:spPr>
      </p:sp>
      <p:sp>
        <p:nvSpPr>
          <p:cNvPr id="6" name="Shape 4"/>
          <p:cNvSpPr/>
          <p:nvPr/>
        </p:nvSpPr>
        <p:spPr>
          <a:xfrm>
            <a:off x="812800" y="2253506"/>
            <a:ext cx="2588419" cy="0"/>
          </a:xfrm>
          <a:prstGeom prst="line">
            <a:avLst/>
          </a:prstGeom>
          <a:noFill/>
          <a:ln w="6350">
            <a:solidFill>
              <a:srgbClr val="2A2A2E"/>
            </a:solidFill>
            <a:prstDash val="solid"/>
          </a:ln>
        </p:spPr>
      </p:sp>
      <p:pic>
        <p:nvPicPr>
          <p:cNvPr id="7" name="Image 0" descr="Check">    </p:cNvPr>
          <p:cNvPicPr>
            <a:picLocks noChangeAspect="1"/>
          </p:cNvPicPr>
          <p:nvPr/>
        </p:nvPicPr>
        <p:blipFill>
          <a:blip r:embed="rId1"/>
          <a:srcRect l="0" r="0" t="0" b="0"/>
          <a:stretch/>
        </p:blipFill>
        <p:spPr>
          <a:xfrm>
            <a:off x="812800" y="2406501"/>
            <a:ext cx="177800" cy="177800"/>
          </a:xfrm>
          <a:prstGeom prst="rect">
            <a:avLst/>
          </a:prstGeom>
        </p:spPr>
      </p:pic>
      <p:sp>
        <p:nvSpPr>
          <p:cNvPr id="8" name="Text 5"/>
          <p:cNvSpPr/>
          <p:nvPr/>
        </p:nvSpPr>
        <p:spPr>
          <a:xfrm>
            <a:off x="1092200" y="2370981"/>
            <a:ext cx="23774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2EF"/>
                </a:solidFill>
                <a:latin typeface="Arial" pitchFamily="34" charset="0"/>
                <a:ea typeface="Arial" pitchFamily="34" charset="-122"/>
                <a:cs typeface="Arial" pitchFamily="34" charset="-120"/>
              </a:rPr>
              <a:t>Navigation &amp; Sticky Navbar</a:t>
            </a:r>
            <a:endParaRPr lang="en-US" sz="1400" dirty="0"/>
          </a:p>
        </p:txBody>
      </p:sp>
      <p:sp>
        <p:nvSpPr>
          <p:cNvPr id="9" name="Shape 6"/>
          <p:cNvSpPr/>
          <p:nvPr/>
        </p:nvSpPr>
        <p:spPr>
          <a:xfrm>
            <a:off x="812800" y="2737346"/>
            <a:ext cx="2588419" cy="0"/>
          </a:xfrm>
          <a:prstGeom prst="line">
            <a:avLst/>
          </a:prstGeom>
          <a:noFill/>
          <a:ln w="6350">
            <a:solidFill>
              <a:srgbClr val="2A2A2E"/>
            </a:solidFill>
            <a:prstDash val="solid"/>
          </a:ln>
        </p:spPr>
      </p:sp>
      <p:pic>
        <p:nvPicPr>
          <p:cNvPr id="10" name="Image 1" descr="Check">    </p:cNvPr>
          <p:cNvPicPr>
            <a:picLocks noChangeAspect="1"/>
          </p:cNvPicPr>
          <p:nvPr/>
        </p:nvPicPr>
        <p:blipFill>
          <a:blip r:embed="rId2"/>
          <a:srcRect l="0" r="0" t="0" b="0"/>
          <a:stretch/>
        </p:blipFill>
        <p:spPr>
          <a:xfrm>
            <a:off x="812800" y="2890341"/>
            <a:ext cx="177800" cy="177800"/>
          </a:xfrm>
          <a:prstGeom prst="rect">
            <a:avLst/>
          </a:prstGeom>
        </p:spPr>
      </p:pic>
      <p:sp>
        <p:nvSpPr>
          <p:cNvPr id="11" name="Text 7"/>
          <p:cNvSpPr/>
          <p:nvPr/>
        </p:nvSpPr>
        <p:spPr>
          <a:xfrm>
            <a:off x="1092200" y="2854821"/>
            <a:ext cx="23774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2EF"/>
                </a:solidFill>
                <a:latin typeface="Arial" pitchFamily="34" charset="0"/>
                <a:ea typeface="Arial" pitchFamily="34" charset="-122"/>
                <a:cs typeface="Arial" pitchFamily="34" charset="-120"/>
              </a:rPr>
              <a:t>Continuous Section Scrolling</a:t>
            </a:r>
            <a:endParaRPr lang="en-US" sz="1400" dirty="0"/>
          </a:p>
        </p:txBody>
      </p:sp>
      <p:sp>
        <p:nvSpPr>
          <p:cNvPr id="12" name="Shape 8"/>
          <p:cNvSpPr/>
          <p:nvPr/>
        </p:nvSpPr>
        <p:spPr>
          <a:xfrm>
            <a:off x="812800" y="3221186"/>
            <a:ext cx="2588419" cy="0"/>
          </a:xfrm>
          <a:prstGeom prst="line">
            <a:avLst/>
          </a:prstGeom>
          <a:noFill/>
          <a:ln w="6350">
            <a:solidFill>
              <a:srgbClr val="2A2A2E"/>
            </a:solidFill>
            <a:prstDash val="solid"/>
          </a:ln>
        </p:spPr>
      </p:sp>
      <p:pic>
        <p:nvPicPr>
          <p:cNvPr id="13" name="Image 2" descr="Check">    </p:cNvPr>
          <p:cNvPicPr>
            <a:picLocks noChangeAspect="1"/>
          </p:cNvPicPr>
          <p:nvPr/>
        </p:nvPicPr>
        <p:blipFill>
          <a:blip r:embed="rId3"/>
          <a:srcRect l="0" r="0" t="0" b="0"/>
          <a:stretch/>
        </p:blipFill>
        <p:spPr>
          <a:xfrm>
            <a:off x="812800" y="3374182"/>
            <a:ext cx="177800" cy="177800"/>
          </a:xfrm>
          <a:prstGeom prst="rect">
            <a:avLst/>
          </a:prstGeom>
        </p:spPr>
      </p:pic>
      <p:sp>
        <p:nvSpPr>
          <p:cNvPr id="14" name="Text 9"/>
          <p:cNvSpPr/>
          <p:nvPr/>
        </p:nvSpPr>
        <p:spPr>
          <a:xfrm>
            <a:off x="1092200" y="3338661"/>
            <a:ext cx="23774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2EF"/>
                </a:solidFill>
                <a:latin typeface="Arial" pitchFamily="34" charset="0"/>
                <a:ea typeface="Arial" pitchFamily="34" charset="-122"/>
                <a:cs typeface="Arial" pitchFamily="34" charset="-120"/>
              </a:rPr>
              <a:t>Animated Skill Progress Bars</a:t>
            </a:r>
            <a:endParaRPr lang="en-US" sz="1400" dirty="0"/>
          </a:p>
        </p:txBody>
      </p:sp>
      <p:sp>
        <p:nvSpPr>
          <p:cNvPr id="15" name="Shape 10"/>
          <p:cNvSpPr/>
          <p:nvPr/>
        </p:nvSpPr>
        <p:spPr>
          <a:xfrm>
            <a:off x="812800" y="3705027"/>
            <a:ext cx="2588419" cy="0"/>
          </a:xfrm>
          <a:prstGeom prst="line">
            <a:avLst/>
          </a:prstGeom>
          <a:noFill/>
          <a:ln w="6350">
            <a:solidFill>
              <a:srgbClr val="2A2A2E"/>
            </a:solidFill>
            <a:prstDash val="solid"/>
          </a:ln>
        </p:spPr>
      </p:sp>
      <p:pic>
        <p:nvPicPr>
          <p:cNvPr id="16" name="Image 3" descr="Check">    </p:cNvPr>
          <p:cNvPicPr>
            <a:picLocks noChangeAspect="1"/>
          </p:cNvPicPr>
          <p:nvPr/>
        </p:nvPicPr>
        <p:blipFill>
          <a:blip r:embed="rId4"/>
          <a:srcRect l="0" r="0" t="0" b="0"/>
          <a:stretch/>
        </p:blipFill>
        <p:spPr>
          <a:xfrm>
            <a:off x="812800" y="3858022"/>
            <a:ext cx="177800" cy="177800"/>
          </a:xfrm>
          <a:prstGeom prst="rect">
            <a:avLst/>
          </a:prstGeom>
        </p:spPr>
      </p:pic>
      <p:sp>
        <p:nvSpPr>
          <p:cNvPr id="17" name="Text 11"/>
          <p:cNvSpPr/>
          <p:nvPr/>
        </p:nvSpPr>
        <p:spPr>
          <a:xfrm>
            <a:off x="1092200" y="3822502"/>
            <a:ext cx="23774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2EF"/>
                </a:solidFill>
                <a:latin typeface="Arial" pitchFamily="34" charset="0"/>
                <a:ea typeface="Arial" pitchFamily="34" charset="-122"/>
                <a:cs typeface="Arial" pitchFamily="34" charset="-120"/>
              </a:rPr>
              <a:t>Project Cards &amp; Highlights</a:t>
            </a:r>
            <a:endParaRPr lang="en-US" sz="1400" dirty="0"/>
          </a:p>
        </p:txBody>
      </p:sp>
      <p:sp>
        <p:nvSpPr>
          <p:cNvPr id="18" name="Shape 12"/>
          <p:cNvSpPr/>
          <p:nvPr/>
        </p:nvSpPr>
        <p:spPr>
          <a:xfrm>
            <a:off x="812800" y="4188867"/>
            <a:ext cx="2588419" cy="0"/>
          </a:xfrm>
          <a:prstGeom prst="line">
            <a:avLst/>
          </a:prstGeom>
          <a:noFill/>
          <a:ln w="6350">
            <a:solidFill>
              <a:srgbClr val="2A2A2E"/>
            </a:solidFill>
            <a:prstDash val="solid"/>
          </a:ln>
        </p:spPr>
      </p:sp>
      <p:pic>
        <p:nvPicPr>
          <p:cNvPr id="19" name="Image 4" descr="Check">    </p:cNvPr>
          <p:cNvPicPr>
            <a:picLocks noChangeAspect="1"/>
          </p:cNvPicPr>
          <p:nvPr/>
        </p:nvPicPr>
        <p:blipFill>
          <a:blip r:embed="rId5"/>
          <a:srcRect l="0" r="0" t="0" b="0"/>
          <a:stretch/>
        </p:blipFill>
        <p:spPr>
          <a:xfrm>
            <a:off x="812800" y="4341862"/>
            <a:ext cx="177800" cy="177800"/>
          </a:xfrm>
          <a:prstGeom prst="rect">
            <a:avLst/>
          </a:prstGeom>
        </p:spPr>
      </p:pic>
      <p:sp>
        <p:nvSpPr>
          <p:cNvPr id="20" name="Text 13"/>
          <p:cNvSpPr/>
          <p:nvPr/>
        </p:nvSpPr>
        <p:spPr>
          <a:xfrm>
            <a:off x="1092200" y="4306342"/>
            <a:ext cx="23774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2EF"/>
                </a:solidFill>
                <a:latin typeface="Arial" pitchFamily="34" charset="0"/>
                <a:ea typeface="Arial" pitchFamily="34" charset="-122"/>
                <a:cs typeface="Arial" pitchFamily="34" charset="-120"/>
              </a:rPr>
              <a:t>GitHub Deep Links</a:t>
            </a:r>
            <a:endParaRPr lang="en-US" sz="1400" dirty="0"/>
          </a:p>
        </p:txBody>
      </p:sp>
      <p:sp>
        <p:nvSpPr>
          <p:cNvPr id="21" name="Shape 14"/>
          <p:cNvSpPr/>
          <p:nvPr/>
        </p:nvSpPr>
        <p:spPr>
          <a:xfrm>
            <a:off x="3604419" y="4672707"/>
            <a:ext cx="2588419" cy="0"/>
          </a:xfrm>
          <a:prstGeom prst="line">
            <a:avLst/>
          </a:prstGeom>
          <a:noFill/>
          <a:ln w="6350">
            <a:solidFill>
              <a:srgbClr val="2A2A2E"/>
            </a:solidFill>
            <a:prstDash val="solid"/>
          </a:ln>
        </p:spPr>
      </p:sp>
      <p:sp>
        <p:nvSpPr>
          <p:cNvPr id="22" name="Shape 15"/>
          <p:cNvSpPr/>
          <p:nvPr/>
        </p:nvSpPr>
        <p:spPr>
          <a:xfrm>
            <a:off x="3604419" y="2253506"/>
            <a:ext cx="2588419" cy="0"/>
          </a:xfrm>
          <a:prstGeom prst="line">
            <a:avLst/>
          </a:prstGeom>
          <a:noFill/>
          <a:ln w="6350">
            <a:solidFill>
              <a:srgbClr val="2A2A2E"/>
            </a:solidFill>
            <a:prstDash val="solid"/>
          </a:ln>
        </p:spPr>
      </p:sp>
      <p:pic>
        <p:nvPicPr>
          <p:cNvPr id="23" name="Image 5" descr="Check">    </p:cNvPr>
          <p:cNvPicPr>
            <a:picLocks noChangeAspect="1"/>
          </p:cNvPicPr>
          <p:nvPr/>
        </p:nvPicPr>
        <p:blipFill>
          <a:blip r:embed="rId6"/>
          <a:srcRect l="0" r="0" t="0" b="0"/>
          <a:stretch/>
        </p:blipFill>
        <p:spPr>
          <a:xfrm>
            <a:off x="3604419" y="2406501"/>
            <a:ext cx="177800" cy="177800"/>
          </a:xfrm>
          <a:prstGeom prst="rect">
            <a:avLst/>
          </a:prstGeom>
        </p:spPr>
      </p:pic>
      <p:sp>
        <p:nvSpPr>
          <p:cNvPr id="24" name="Text 16"/>
          <p:cNvSpPr/>
          <p:nvPr/>
        </p:nvSpPr>
        <p:spPr>
          <a:xfrm>
            <a:off x="3883819" y="2370981"/>
            <a:ext cx="23774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2EF"/>
                </a:solidFill>
                <a:latin typeface="Arial" pitchFamily="34" charset="0"/>
                <a:ea typeface="Arial" pitchFamily="34" charset="-122"/>
                <a:cs typeface="Arial" pitchFamily="34" charset="-120"/>
              </a:rPr>
              <a:t>Interactive Resume Viewer</a:t>
            </a:r>
            <a:endParaRPr lang="en-US" sz="1400" dirty="0"/>
          </a:p>
        </p:txBody>
      </p:sp>
      <p:sp>
        <p:nvSpPr>
          <p:cNvPr id="25" name="Shape 17"/>
          <p:cNvSpPr/>
          <p:nvPr/>
        </p:nvSpPr>
        <p:spPr>
          <a:xfrm>
            <a:off x="3604419" y="2737346"/>
            <a:ext cx="2588419" cy="0"/>
          </a:xfrm>
          <a:prstGeom prst="line">
            <a:avLst/>
          </a:prstGeom>
          <a:noFill/>
          <a:ln w="6350">
            <a:solidFill>
              <a:srgbClr val="2A2A2E"/>
            </a:solidFill>
            <a:prstDash val="solid"/>
          </a:ln>
        </p:spPr>
      </p:sp>
      <p:pic>
        <p:nvPicPr>
          <p:cNvPr id="26" name="Image 6" descr="Check">    </p:cNvPr>
          <p:cNvPicPr>
            <a:picLocks noChangeAspect="1"/>
          </p:cNvPicPr>
          <p:nvPr/>
        </p:nvPicPr>
        <p:blipFill>
          <a:blip r:embed="rId7"/>
          <a:srcRect l="0" r="0" t="0" b="0"/>
          <a:stretch/>
        </p:blipFill>
        <p:spPr>
          <a:xfrm>
            <a:off x="3604419" y="2890341"/>
            <a:ext cx="177800" cy="177800"/>
          </a:xfrm>
          <a:prstGeom prst="rect">
            <a:avLst/>
          </a:prstGeom>
        </p:spPr>
      </p:pic>
      <p:sp>
        <p:nvSpPr>
          <p:cNvPr id="27" name="Text 18"/>
          <p:cNvSpPr/>
          <p:nvPr/>
        </p:nvSpPr>
        <p:spPr>
          <a:xfrm>
            <a:off x="3883819" y="2854821"/>
            <a:ext cx="23774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2EF"/>
                </a:solidFill>
                <a:latin typeface="Arial" pitchFamily="34" charset="0"/>
                <a:ea typeface="Arial" pitchFamily="34" charset="-122"/>
                <a:cs typeface="Arial" pitchFamily="34" charset="-120"/>
              </a:rPr>
              <a:t>PDF Resume Download Action</a:t>
            </a:r>
            <a:endParaRPr lang="en-US" sz="1400" dirty="0"/>
          </a:p>
        </p:txBody>
      </p:sp>
      <p:sp>
        <p:nvSpPr>
          <p:cNvPr id="28" name="Shape 19"/>
          <p:cNvSpPr/>
          <p:nvPr/>
        </p:nvSpPr>
        <p:spPr>
          <a:xfrm>
            <a:off x="3604419" y="3221186"/>
            <a:ext cx="2588419" cy="0"/>
          </a:xfrm>
          <a:prstGeom prst="line">
            <a:avLst/>
          </a:prstGeom>
          <a:noFill/>
          <a:ln w="6350">
            <a:solidFill>
              <a:srgbClr val="2A2A2E"/>
            </a:solidFill>
            <a:prstDash val="solid"/>
          </a:ln>
        </p:spPr>
      </p:sp>
      <p:pic>
        <p:nvPicPr>
          <p:cNvPr id="29" name="Image 7" descr="Check">    </p:cNvPr>
          <p:cNvPicPr>
            <a:picLocks noChangeAspect="1"/>
          </p:cNvPicPr>
          <p:nvPr/>
        </p:nvPicPr>
        <p:blipFill>
          <a:blip r:embed="rId8"/>
          <a:srcRect l="0" r="0" t="0" b="0"/>
          <a:stretch/>
        </p:blipFill>
        <p:spPr>
          <a:xfrm>
            <a:off x="3604419" y="3374182"/>
            <a:ext cx="177800" cy="177800"/>
          </a:xfrm>
          <a:prstGeom prst="rect">
            <a:avLst/>
          </a:prstGeom>
        </p:spPr>
      </p:pic>
      <p:sp>
        <p:nvSpPr>
          <p:cNvPr id="30" name="Text 20"/>
          <p:cNvSpPr/>
          <p:nvPr/>
        </p:nvSpPr>
        <p:spPr>
          <a:xfrm>
            <a:off x="3883819" y="3338661"/>
            <a:ext cx="23774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2EF"/>
                </a:solidFill>
                <a:latin typeface="Arial" pitchFamily="34" charset="0"/>
                <a:ea typeface="Arial" pitchFamily="34" charset="-122"/>
                <a:cs typeface="Arial" pitchFamily="34" charset="-120"/>
              </a:rPr>
              <a:t>One-Tap Phone Dialing</a:t>
            </a:r>
            <a:endParaRPr lang="en-US" sz="1400" dirty="0"/>
          </a:p>
        </p:txBody>
      </p:sp>
      <p:sp>
        <p:nvSpPr>
          <p:cNvPr id="31" name="Shape 21"/>
          <p:cNvSpPr/>
          <p:nvPr/>
        </p:nvSpPr>
        <p:spPr>
          <a:xfrm>
            <a:off x="3604419" y="3705027"/>
            <a:ext cx="2588419" cy="0"/>
          </a:xfrm>
          <a:prstGeom prst="line">
            <a:avLst/>
          </a:prstGeom>
          <a:noFill/>
          <a:ln w="6350">
            <a:solidFill>
              <a:srgbClr val="2A2A2E"/>
            </a:solidFill>
            <a:prstDash val="solid"/>
          </a:ln>
        </p:spPr>
      </p:sp>
      <p:pic>
        <p:nvPicPr>
          <p:cNvPr id="32" name="Image 8" descr="Check">    </p:cNvPr>
          <p:cNvPicPr>
            <a:picLocks noChangeAspect="1"/>
          </p:cNvPicPr>
          <p:nvPr/>
        </p:nvPicPr>
        <p:blipFill>
          <a:blip r:embed="rId9"/>
          <a:srcRect l="0" r="0" t="0" b="0"/>
          <a:stretch/>
        </p:blipFill>
        <p:spPr>
          <a:xfrm>
            <a:off x="3604419" y="3858022"/>
            <a:ext cx="177800" cy="177800"/>
          </a:xfrm>
          <a:prstGeom prst="rect">
            <a:avLst/>
          </a:prstGeom>
        </p:spPr>
      </p:pic>
      <p:sp>
        <p:nvSpPr>
          <p:cNvPr id="33" name="Text 22"/>
          <p:cNvSpPr/>
          <p:nvPr/>
        </p:nvSpPr>
        <p:spPr>
          <a:xfrm>
            <a:off x="3883819" y="3822502"/>
            <a:ext cx="23774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2EF"/>
                </a:solidFill>
                <a:latin typeface="Arial" pitchFamily="34" charset="0"/>
                <a:ea typeface="Arial" pitchFamily="34" charset="-122"/>
                <a:cs typeface="Arial" pitchFamily="34" charset="-120"/>
              </a:rPr>
              <a:t>Email Client Hand-Off</a:t>
            </a:r>
            <a:endParaRPr lang="en-US" sz="1400" dirty="0"/>
          </a:p>
        </p:txBody>
      </p:sp>
      <p:sp>
        <p:nvSpPr>
          <p:cNvPr id="34" name="Shape 23"/>
          <p:cNvSpPr/>
          <p:nvPr/>
        </p:nvSpPr>
        <p:spPr>
          <a:xfrm>
            <a:off x="3604419" y="4188867"/>
            <a:ext cx="2588419" cy="0"/>
          </a:xfrm>
          <a:prstGeom prst="line">
            <a:avLst/>
          </a:prstGeom>
          <a:noFill/>
          <a:ln w="6350">
            <a:solidFill>
              <a:srgbClr val="2A2A2E"/>
            </a:solidFill>
            <a:prstDash val="solid"/>
          </a:ln>
        </p:spPr>
      </p:sp>
      <p:pic>
        <p:nvPicPr>
          <p:cNvPr id="35" name="Image 9" descr="Check">    </p:cNvPr>
          <p:cNvPicPr>
            <a:picLocks noChangeAspect="1"/>
          </p:cNvPicPr>
          <p:nvPr/>
        </p:nvPicPr>
        <p:blipFill>
          <a:blip r:embed="rId10"/>
          <a:srcRect l="0" r="0" t="0" b="0"/>
          <a:stretch/>
        </p:blipFill>
        <p:spPr>
          <a:xfrm>
            <a:off x="3604419" y="4341862"/>
            <a:ext cx="177800" cy="177800"/>
          </a:xfrm>
          <a:prstGeom prst="rect">
            <a:avLst/>
          </a:prstGeom>
        </p:spPr>
      </p:pic>
      <p:sp>
        <p:nvSpPr>
          <p:cNvPr id="36" name="Text 24"/>
          <p:cNvSpPr/>
          <p:nvPr/>
        </p:nvSpPr>
        <p:spPr>
          <a:xfrm>
            <a:off x="3883819" y="4306342"/>
            <a:ext cx="23774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2EF"/>
                </a:solidFill>
                <a:latin typeface="Arial" pitchFamily="34" charset="0"/>
                <a:ea typeface="Arial" pitchFamily="34" charset="-122"/>
                <a:cs typeface="Arial" pitchFamily="34" charset="-120"/>
              </a:rPr>
              <a:t>LinkedIn &amp; GitHub Links</a:t>
            </a:r>
            <a:endParaRPr lang="en-US" sz="1400" dirty="0"/>
          </a:p>
        </p:txBody>
      </p:sp>
      <p:sp>
        <p:nvSpPr>
          <p:cNvPr id="37" name="Shape 25"/>
          <p:cNvSpPr/>
          <p:nvPr/>
        </p:nvSpPr>
        <p:spPr>
          <a:xfrm>
            <a:off x="6704013" y="1913186"/>
            <a:ext cx="4671963" cy="1139081"/>
          </a:xfrm>
          <a:prstGeom prst="roundRect">
            <a:avLst>
              <a:gd name="adj" fmla="val 8641"/>
            </a:avLst>
          </a:prstGeom>
          <a:solidFill>
            <a:srgbClr val="17171A"/>
          </a:solidFill>
          <a:ln w="6350">
            <a:solidFill>
              <a:srgbClr val="2A2A2E"/>
            </a:solidFill>
            <a:prstDash val="solid"/>
          </a:ln>
        </p:spPr>
      </p:sp>
      <p:sp>
        <p:nvSpPr>
          <p:cNvPr id="38" name="Text 26"/>
          <p:cNvSpPr/>
          <p:nvPr/>
        </p:nvSpPr>
        <p:spPr>
          <a:xfrm>
            <a:off x="6884988" y="2094161"/>
            <a:ext cx="4389120" cy="23872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8A8A8F"/>
                </a:solidFill>
                <a:latin typeface="Arial" pitchFamily="34" charset="0"/>
                <a:ea typeface="Arial" pitchFamily="34" charset="-122"/>
                <a:cs typeface="Arial" pitchFamily="34" charset="-120"/>
              </a:rPr>
              <a:t>TYPESCRIPT &amp; CODE QUALITY</a:t>
            </a:r>
            <a:endParaRPr lang="en-US" sz="1200" dirty="0"/>
          </a:p>
        </p:txBody>
      </p:sp>
      <p:sp>
        <p:nvSpPr>
          <p:cNvPr id="39" name="Text 27"/>
          <p:cNvSpPr/>
          <p:nvPr/>
        </p:nvSpPr>
        <p:spPr>
          <a:xfrm>
            <a:off x="6884988" y="2358281"/>
            <a:ext cx="4389120" cy="274290"/>
          </a:xfrm>
          <a:prstGeom prst="rect">
            <a:avLst/>
          </a:prstGeom>
          <a:noFill/>
          <a:ln/>
        </p:spPr>
        <p:txBody>
          <a:bodyPr wrap="square" lIns="0" tIns="0" rIns="0" bIns="0" rtlCol="0" anchor="t"/>
          <a:lstStyle/>
          <a:p>
            <a:pPr algn="l" indent="0" marL="0">
              <a:lnSpc>
                <a:spcPts val="1960"/>
              </a:lnSpc>
              <a:buNone/>
            </a:pPr>
            <a:r>
              <a:rPr lang="en-US" sz="1400" dirty="0">
                <a:solidFill>
                  <a:srgbClr val="F2F2EF"/>
                </a:solidFill>
                <a:latin typeface="Courier New" pitchFamily="34" charset="0"/>
                <a:ea typeface="Courier New" pitchFamily="34" charset="-122"/>
                <a:cs typeface="Courier New" pitchFamily="34" charset="-120"/>
              </a:rPr>
              <a:t>npx tsc --noEmit &amp;&amp; npm run lint</a:t>
            </a:r>
            <a:endParaRPr lang="en-US" sz="1400" dirty="0"/>
          </a:p>
        </p:txBody>
      </p:sp>
      <p:pic>
        <p:nvPicPr>
          <p:cNvPr id="40" name="Image 10" descr="ellipse">    </p:cNvPr>
          <p:cNvPicPr>
            <a:picLocks noChangeAspect="1"/>
          </p:cNvPicPr>
          <p:nvPr/>
        </p:nvPicPr>
        <p:blipFill>
          <a:blip r:embed="rId11"/>
          <a:srcRect l="0" r="0" t="0" b="0"/>
          <a:stretch/>
        </p:blipFill>
        <p:spPr>
          <a:xfrm>
            <a:off x="6884988" y="2726531"/>
            <a:ext cx="76200" cy="76200"/>
          </a:xfrm>
          <a:prstGeom prst="rect">
            <a:avLst/>
          </a:prstGeom>
        </p:spPr>
      </p:pic>
      <p:sp>
        <p:nvSpPr>
          <p:cNvPr id="41" name="Text 28"/>
          <p:cNvSpPr/>
          <p:nvPr/>
        </p:nvSpPr>
        <p:spPr>
          <a:xfrm>
            <a:off x="7037388" y="2657971"/>
            <a:ext cx="4389120" cy="238720"/>
          </a:xfrm>
          <a:prstGeom prst="rect">
            <a:avLst/>
          </a:prstGeom>
          <a:noFill/>
          <a:ln/>
        </p:spPr>
        <p:txBody>
          <a:bodyPr wrap="square" lIns="0" tIns="0" rIns="0" bIns="0" rtlCol="0" anchor="t"/>
          <a:lstStyle/>
          <a:p>
            <a:pPr algn="l" indent="0" marL="0">
              <a:lnSpc>
                <a:spcPts val="1680"/>
              </a:lnSpc>
              <a:buNone/>
            </a:pPr>
            <a:r>
              <a:rPr lang="en-US" sz="1200" dirty="0">
                <a:solidFill>
                  <a:srgbClr val="6FD4A0"/>
                </a:solidFill>
                <a:latin typeface="Arial" pitchFamily="34" charset="0"/>
                <a:ea typeface="Arial" pitchFamily="34" charset="-122"/>
                <a:cs typeface="Arial" pitchFamily="34" charset="-120"/>
              </a:rPr>
              <a:t>0 errors · 0 warnings · Clean compile</a:t>
            </a:r>
            <a:endParaRPr lang="en-US" sz="1200" dirty="0"/>
          </a:p>
        </p:txBody>
      </p:sp>
      <p:sp>
        <p:nvSpPr>
          <p:cNvPr id="42" name="Shape 29"/>
          <p:cNvSpPr/>
          <p:nvPr/>
        </p:nvSpPr>
        <p:spPr>
          <a:xfrm>
            <a:off x="6704013" y="3160216"/>
            <a:ext cx="4671963" cy="1139081"/>
          </a:xfrm>
          <a:prstGeom prst="roundRect">
            <a:avLst>
              <a:gd name="adj" fmla="val 8641"/>
            </a:avLst>
          </a:prstGeom>
          <a:solidFill>
            <a:srgbClr val="17171A"/>
          </a:solidFill>
          <a:ln w="6350">
            <a:solidFill>
              <a:srgbClr val="2A2A2E"/>
            </a:solidFill>
            <a:prstDash val="solid"/>
          </a:ln>
        </p:spPr>
      </p:sp>
      <p:sp>
        <p:nvSpPr>
          <p:cNvPr id="43" name="Text 30"/>
          <p:cNvSpPr/>
          <p:nvPr/>
        </p:nvSpPr>
        <p:spPr>
          <a:xfrm>
            <a:off x="6884988" y="3341191"/>
            <a:ext cx="4389120" cy="23872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8A8A8F"/>
                </a:solidFill>
                <a:latin typeface="Arial" pitchFamily="34" charset="0"/>
                <a:ea typeface="Arial" pitchFamily="34" charset="-122"/>
                <a:cs typeface="Arial" pitchFamily="34" charset="-120"/>
              </a:rPr>
              <a:t>TEST SUITE &amp; ANDROID BUILD</a:t>
            </a:r>
            <a:endParaRPr lang="en-US" sz="1200" dirty="0"/>
          </a:p>
        </p:txBody>
      </p:sp>
      <p:sp>
        <p:nvSpPr>
          <p:cNvPr id="44" name="Text 31"/>
          <p:cNvSpPr/>
          <p:nvPr/>
        </p:nvSpPr>
        <p:spPr>
          <a:xfrm>
            <a:off x="6884988" y="3605312"/>
            <a:ext cx="4389120" cy="274290"/>
          </a:xfrm>
          <a:prstGeom prst="rect">
            <a:avLst/>
          </a:prstGeom>
          <a:noFill/>
          <a:ln/>
        </p:spPr>
        <p:txBody>
          <a:bodyPr wrap="square" lIns="0" tIns="0" rIns="0" bIns="0" rtlCol="0" anchor="t"/>
          <a:lstStyle/>
          <a:p>
            <a:pPr algn="l" indent="0" marL="0">
              <a:lnSpc>
                <a:spcPts val="1960"/>
              </a:lnSpc>
              <a:buNone/>
            </a:pPr>
            <a:r>
              <a:rPr lang="en-US" sz="1400" dirty="0">
                <a:solidFill>
                  <a:srgbClr val="F2F2EF"/>
                </a:solidFill>
                <a:latin typeface="Arial" pitchFamily="34" charset="0"/>
                <a:ea typeface="Arial" pitchFamily="34" charset="-122"/>
                <a:cs typeface="Arial" pitchFamily="34" charset="-120"/>
              </a:rPr>
              <a:t>Jest: 2 suites, 10/10 tests passed (8.4s)</a:t>
            </a:r>
            <a:endParaRPr lang="en-US" sz="1400" dirty="0"/>
          </a:p>
        </p:txBody>
      </p:sp>
      <p:pic>
        <p:nvPicPr>
          <p:cNvPr id="45" name="Image 11" descr="ellipse">    </p:cNvPr>
          <p:cNvPicPr>
            <a:picLocks noChangeAspect="1"/>
          </p:cNvPicPr>
          <p:nvPr/>
        </p:nvPicPr>
        <p:blipFill>
          <a:blip r:embed="rId12"/>
          <a:srcRect l="0" r="0" t="0" b="0"/>
          <a:stretch/>
        </p:blipFill>
        <p:spPr>
          <a:xfrm>
            <a:off x="6884988" y="3973562"/>
            <a:ext cx="76200" cy="76200"/>
          </a:xfrm>
          <a:prstGeom prst="rect">
            <a:avLst/>
          </a:prstGeom>
        </p:spPr>
      </p:pic>
      <p:sp>
        <p:nvSpPr>
          <p:cNvPr id="46" name="Text 32"/>
          <p:cNvSpPr/>
          <p:nvPr/>
        </p:nvSpPr>
        <p:spPr>
          <a:xfrm>
            <a:off x="7037388" y="3905002"/>
            <a:ext cx="4389120" cy="238720"/>
          </a:xfrm>
          <a:prstGeom prst="rect">
            <a:avLst/>
          </a:prstGeom>
          <a:noFill/>
          <a:ln/>
        </p:spPr>
        <p:txBody>
          <a:bodyPr wrap="square" lIns="0" tIns="0" rIns="0" bIns="0" rtlCol="0" anchor="t"/>
          <a:lstStyle/>
          <a:p>
            <a:pPr algn="l" indent="0" marL="0">
              <a:lnSpc>
                <a:spcPts val="1680"/>
              </a:lnSpc>
              <a:buNone/>
            </a:pPr>
            <a:r>
              <a:rPr lang="en-US" sz="1200" dirty="0">
                <a:solidFill>
                  <a:srgbClr val="6FD4A0"/>
                </a:solidFill>
                <a:latin typeface="Arial" pitchFamily="34" charset="0"/>
                <a:ea typeface="Arial" pitchFamily="34" charset="-122"/>
                <a:cs typeface="Arial" pitchFamily="34" charset="-120"/>
              </a:rPr>
              <a:t>Clean Gradle assembleDebug SUCCESS</a:t>
            </a:r>
            <a:endParaRPr lang="en-US" sz="1200" dirty="0"/>
          </a:p>
        </p:txBody>
      </p:sp>
      <p:sp>
        <p:nvSpPr>
          <p:cNvPr id="47" name="Shape 33"/>
          <p:cNvSpPr/>
          <p:nvPr/>
        </p:nvSpPr>
        <p:spPr>
          <a:xfrm>
            <a:off x="6704013" y="4407247"/>
            <a:ext cx="4671963" cy="1103511"/>
          </a:xfrm>
          <a:prstGeom prst="roundRect">
            <a:avLst>
              <a:gd name="adj" fmla="val 8919"/>
            </a:avLst>
          </a:prstGeom>
          <a:solidFill>
            <a:srgbClr val="17171A"/>
          </a:solidFill>
          <a:ln w="6350">
            <a:solidFill>
              <a:srgbClr val="2A2A2E"/>
            </a:solidFill>
            <a:prstDash val="solid"/>
          </a:ln>
        </p:spPr>
      </p:sp>
      <p:sp>
        <p:nvSpPr>
          <p:cNvPr id="48" name="Text 34"/>
          <p:cNvSpPr/>
          <p:nvPr/>
        </p:nvSpPr>
        <p:spPr>
          <a:xfrm>
            <a:off x="6884988" y="4588222"/>
            <a:ext cx="4389120" cy="238720"/>
          </a:xfrm>
          <a:prstGeom prst="rect">
            <a:avLst/>
          </a:prstGeom>
          <a:noFill/>
          <a:ln/>
        </p:spPr>
        <p:txBody>
          <a:bodyPr wrap="square" lIns="0" tIns="0" rIns="0" bIns="0" rtlCol="0" anchor="t"/>
          <a:lstStyle/>
          <a:p>
            <a:pPr algn="l" indent="0" marL="0">
              <a:lnSpc>
                <a:spcPts val="1680"/>
              </a:lnSpc>
              <a:buNone/>
            </a:pPr>
            <a:r>
              <a:rPr lang="en-US" sz="1200" b="1" spc="150" kern="0" dirty="0">
                <a:solidFill>
                  <a:srgbClr val="8A8A8F"/>
                </a:solidFill>
                <a:latin typeface="Arial" pitchFamily="34" charset="0"/>
                <a:ea typeface="Arial" pitchFamily="34" charset="-122"/>
                <a:cs typeface="Arial" pitchFamily="34" charset="-120"/>
              </a:rPr>
              <a:t>VERSION CONTROL</a:t>
            </a:r>
            <a:endParaRPr lang="en-US" sz="1200" dirty="0"/>
          </a:p>
        </p:txBody>
      </p:sp>
      <p:sp>
        <p:nvSpPr>
          <p:cNvPr id="49" name="Text 35"/>
          <p:cNvSpPr/>
          <p:nvPr/>
        </p:nvSpPr>
        <p:spPr>
          <a:xfrm>
            <a:off x="6884988" y="4852343"/>
            <a:ext cx="4389120" cy="238720"/>
          </a:xfrm>
          <a:prstGeom prst="rect">
            <a:avLst/>
          </a:prstGeom>
          <a:noFill/>
          <a:ln/>
        </p:spPr>
        <p:txBody>
          <a:bodyPr wrap="square" lIns="0" tIns="0" rIns="0" bIns="0" rtlCol="0" anchor="t"/>
          <a:lstStyle/>
          <a:p>
            <a:pPr algn="l" indent="0" marL="0">
              <a:lnSpc>
                <a:spcPts val="1680"/>
              </a:lnSpc>
              <a:buNone/>
            </a:pPr>
            <a:r>
              <a:rPr lang="en-US" sz="1200" u="sng" dirty="0">
                <a:solidFill>
                  <a:srgbClr val="F2F2EF"/>
                </a:solidFill>
                <a:latin typeface="Courier New" pitchFamily="34" charset="0"/>
                <a:ea typeface="Courier New" pitchFamily="34" charset="-122"/>
                <a:cs typeface="Courier New" pitchFamily="34" charset="-120"/>
                <a:hlinkClick r:id="rId13" invalidUrl="" action="" tgtFrame="" tooltip="" history="1" highlightClick="0" endSnd="0">
                  <a:extLst>
                    <a:ext uri="{A12FA001-AC4F-418D-AE19-62706E023703}">
                      <ahyp:hlinkClr xmlns:ahyp="http://schemas.microsoft.com/office/drawing/2018/hyperlinkcolor" val="tx"/>
                    </a:ext>
                  </a:extLst>
                </a:hlinkClick>
              </a:rPr>
              <a:t>github.com/Varadha9/CPAD</a:t>
            </a:r>
            <a:endParaRPr lang="en-US" sz="1200" dirty="0"/>
          </a:p>
        </p:txBody>
      </p:sp>
      <p:sp>
        <p:nvSpPr>
          <p:cNvPr id="50" name="Text 36"/>
          <p:cNvSpPr/>
          <p:nvPr/>
        </p:nvSpPr>
        <p:spPr>
          <a:xfrm>
            <a:off x="6884988" y="5116463"/>
            <a:ext cx="4389120" cy="238720"/>
          </a:xfrm>
          <a:prstGeom prst="rect">
            <a:avLst/>
          </a:prstGeom>
          <a:noFill/>
          <a:ln/>
        </p:spPr>
        <p:txBody>
          <a:bodyPr wrap="square" lIns="0" tIns="0" rIns="0" bIns="0" rtlCol="0" anchor="t"/>
          <a:lstStyle/>
          <a:p>
            <a:pPr algn="l" indent="0" marL="0">
              <a:lnSpc>
                <a:spcPts val="1680"/>
              </a:lnSpc>
              <a:buNone/>
            </a:pPr>
            <a:r>
              <a:rPr lang="en-US" sz="1200" dirty="0">
                <a:solidFill>
                  <a:srgbClr val="A1A1A6"/>
                </a:solidFill>
                <a:latin typeface="Courier New" pitchFamily="34" charset="0"/>
                <a:ea typeface="Courier New" pitchFamily="34" charset="-122"/>
                <a:cs typeface="Courier New" pitchFamily="34" charset="-120"/>
              </a:rPr>
              <a:t>6b24f60 · fix: ResumeScreen — use correct fields</a:t>
            </a:r>
            <a:endParaRPr lang="en-US" sz="1200" dirty="0"/>
          </a:p>
        </p:txBody>
      </p:sp>
      <p:sp>
        <p:nvSpPr>
          <p:cNvPr id="51" name="Text 37"/>
          <p:cNvSpPr/>
          <p:nvPr/>
        </p:nvSpPr>
        <p:spPr>
          <a:xfrm>
            <a:off x="812800" y="6236990"/>
            <a:ext cx="365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Arial" pitchFamily="34" charset="0"/>
                <a:ea typeface="Arial" pitchFamily="34" charset="-122"/>
                <a:cs typeface="Arial" pitchFamily="34" charset="-120"/>
              </a:rPr>
              <a:t>DevPortfolio · Varad Vikas Mandhare</a:t>
            </a:r>
            <a:endParaRPr lang="en-US" sz="1200" dirty="0"/>
          </a:p>
        </p:txBody>
      </p:sp>
      <p:sp>
        <p:nvSpPr>
          <p:cNvPr id="52" name="Text 38"/>
          <p:cNvSpPr/>
          <p:nvPr/>
        </p:nvSpPr>
        <p:spPr>
          <a:xfrm>
            <a:off x="10738991" y="6236990"/>
            <a:ext cx="6910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11 / 12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131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8A8F"/>
                </a:solidFill>
                <a:latin typeface="Arial" pitchFamily="34" charset="0"/>
                <a:ea typeface="Arial" pitchFamily="34" charset="-122"/>
                <a:cs typeface="Arial" pitchFamily="34" charset="-120"/>
              </a:rPr>
              <a:t>12 — CONCLUSION AND FUTURE SCOPE</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spc="-100" kern="0" dirty="0">
                <a:solidFill>
                  <a:srgbClr val="F2F2EF"/>
                </a:solidFill>
                <a:latin typeface="Arial" pitchFamily="34" charset="0"/>
                <a:ea typeface="Arial" pitchFamily="34" charset="-122"/>
                <a:cs typeface="Arial" pitchFamily="34" charset="-120"/>
              </a:rPr>
              <a:t>One app, the whole journey.</a:t>
            </a:r>
            <a:endParaRPr lang="en-US" sz="3600" dirty="0"/>
          </a:p>
        </p:txBody>
      </p:sp>
      <p:sp>
        <p:nvSpPr>
          <p:cNvPr id="4" name="Text 2"/>
          <p:cNvSpPr/>
          <p:nvPr/>
        </p:nvSpPr>
        <p:spPr>
          <a:xfrm>
            <a:off x="812800" y="1910011"/>
            <a:ext cx="5303520" cy="288032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D6D6D2"/>
                </a:solidFill>
                <a:latin typeface="Arial" pitchFamily="34" charset="0"/>
                <a:ea typeface="Arial" pitchFamily="34" charset="-122"/>
                <a:cs typeface="Arial" pitchFamily="34" charset="-120"/>
              </a:rPr>
              <a:t>CPAD Developer Portfolio consolidates personal branding, 24+ technical skills, 6 production projects, academic milestones, and one-tap contact channels into a unified, high-performance native Android application.</a:t>
            </a:r>
            <a:endParaRPr lang="en-US" sz="2000" dirty="0"/>
          </a:p>
        </p:txBody>
      </p:sp>
      <p:sp>
        <p:nvSpPr>
          <p:cNvPr id="5" name="Text 3"/>
          <p:cNvSpPr/>
          <p:nvPr/>
        </p:nvSpPr>
        <p:spPr>
          <a:xfrm>
            <a:off x="6637834" y="1910011"/>
            <a:ext cx="45720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8A8F"/>
                </a:solidFill>
                <a:latin typeface="Arial" pitchFamily="34" charset="0"/>
                <a:ea typeface="Arial" pitchFamily="34" charset="-122"/>
                <a:cs typeface="Arial" pitchFamily="34" charset="-120"/>
              </a:rPr>
              <a:t>FUTURE SCOPE</a:t>
            </a:r>
            <a:endParaRPr lang="en-US" sz="1200" dirty="0"/>
          </a:p>
        </p:txBody>
      </p:sp>
      <p:sp>
        <p:nvSpPr>
          <p:cNvPr id="6" name="Shape 4"/>
          <p:cNvSpPr/>
          <p:nvPr/>
        </p:nvSpPr>
        <p:spPr>
          <a:xfrm>
            <a:off x="6637834" y="4761756"/>
            <a:ext cx="4741366" cy="0"/>
          </a:xfrm>
          <a:prstGeom prst="line">
            <a:avLst/>
          </a:prstGeom>
          <a:noFill/>
          <a:ln w="6350">
            <a:solidFill>
              <a:srgbClr val="2A2A2E"/>
            </a:solidFill>
            <a:prstDash val="solid"/>
          </a:ln>
        </p:spPr>
      </p:sp>
      <p:sp>
        <p:nvSpPr>
          <p:cNvPr id="7" name="Shape 5"/>
          <p:cNvSpPr/>
          <p:nvPr/>
        </p:nvSpPr>
        <p:spPr>
          <a:xfrm>
            <a:off x="6637834" y="2253506"/>
            <a:ext cx="4741366" cy="0"/>
          </a:xfrm>
          <a:prstGeom prst="line">
            <a:avLst/>
          </a:prstGeom>
          <a:noFill/>
          <a:ln w="6350">
            <a:solidFill>
              <a:srgbClr val="2A2A2E"/>
            </a:solidFill>
            <a:prstDash val="solid"/>
          </a:ln>
        </p:spPr>
      </p:sp>
      <p:sp>
        <p:nvSpPr>
          <p:cNvPr id="8" name="Text 6"/>
          <p:cNvSpPr/>
          <p:nvPr/>
        </p:nvSpPr>
        <p:spPr>
          <a:xfrm>
            <a:off x="6637834" y="242178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01</a:t>
            </a:r>
            <a:endParaRPr lang="en-US" sz="1200" dirty="0"/>
          </a:p>
        </p:txBody>
      </p:sp>
      <p:sp>
        <p:nvSpPr>
          <p:cNvPr id="9" name="Text 7"/>
          <p:cNvSpPr/>
          <p:nvPr/>
        </p:nvSpPr>
        <p:spPr>
          <a:xfrm>
            <a:off x="6947743" y="2370981"/>
            <a:ext cx="4937760" cy="292100"/>
          </a:xfrm>
          <a:prstGeom prst="rect">
            <a:avLst/>
          </a:prstGeom>
          <a:noFill/>
          <a:ln/>
        </p:spPr>
        <p:txBody>
          <a:bodyPr wrap="square" lIns="0" tIns="0" rIns="0" bIns="0" rtlCol="0" anchor="t"/>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Google Play Store Release (.aab bundle)</a:t>
            </a:r>
            <a:endParaRPr lang="en-US" sz="1500" dirty="0"/>
          </a:p>
        </p:txBody>
      </p:sp>
      <p:sp>
        <p:nvSpPr>
          <p:cNvPr id="10" name="Shape 8"/>
          <p:cNvSpPr/>
          <p:nvPr/>
        </p:nvSpPr>
        <p:spPr>
          <a:xfrm>
            <a:off x="6637834" y="2755156"/>
            <a:ext cx="4741366" cy="0"/>
          </a:xfrm>
          <a:prstGeom prst="line">
            <a:avLst/>
          </a:prstGeom>
          <a:noFill/>
          <a:ln w="6350">
            <a:solidFill>
              <a:srgbClr val="2A2A2E"/>
            </a:solidFill>
            <a:prstDash val="solid"/>
          </a:ln>
        </p:spPr>
      </p:sp>
      <p:sp>
        <p:nvSpPr>
          <p:cNvPr id="11" name="Text 9"/>
          <p:cNvSpPr/>
          <p:nvPr/>
        </p:nvSpPr>
        <p:spPr>
          <a:xfrm>
            <a:off x="6637834" y="292343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02</a:t>
            </a:r>
            <a:endParaRPr lang="en-US" sz="1200" dirty="0"/>
          </a:p>
        </p:txBody>
      </p:sp>
      <p:sp>
        <p:nvSpPr>
          <p:cNvPr id="12" name="Text 10"/>
          <p:cNvSpPr/>
          <p:nvPr/>
        </p:nvSpPr>
        <p:spPr>
          <a:xfrm>
            <a:off x="6947743" y="2872631"/>
            <a:ext cx="4937760" cy="292100"/>
          </a:xfrm>
          <a:prstGeom prst="rect">
            <a:avLst/>
          </a:prstGeom>
          <a:noFill/>
          <a:ln/>
        </p:spPr>
        <p:txBody>
          <a:bodyPr wrap="square" lIns="0" tIns="0" rIns="0" bIns="0" rtlCol="0" anchor="t"/>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Cross-Platform iOS &amp; iPadOS Deployment</a:t>
            </a:r>
            <a:endParaRPr lang="en-US" sz="1500" dirty="0"/>
          </a:p>
        </p:txBody>
      </p:sp>
      <p:sp>
        <p:nvSpPr>
          <p:cNvPr id="13" name="Shape 11"/>
          <p:cNvSpPr/>
          <p:nvPr/>
        </p:nvSpPr>
        <p:spPr>
          <a:xfrm>
            <a:off x="6637834" y="3256806"/>
            <a:ext cx="4741366" cy="0"/>
          </a:xfrm>
          <a:prstGeom prst="line">
            <a:avLst/>
          </a:prstGeom>
          <a:noFill/>
          <a:ln w="6350">
            <a:solidFill>
              <a:srgbClr val="2A2A2E"/>
            </a:solidFill>
            <a:prstDash val="solid"/>
          </a:ln>
        </p:spPr>
      </p:sp>
      <p:sp>
        <p:nvSpPr>
          <p:cNvPr id="14" name="Text 12"/>
          <p:cNvSpPr/>
          <p:nvPr/>
        </p:nvSpPr>
        <p:spPr>
          <a:xfrm>
            <a:off x="6637834" y="342508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03</a:t>
            </a:r>
            <a:endParaRPr lang="en-US" sz="1200" dirty="0"/>
          </a:p>
        </p:txBody>
      </p:sp>
      <p:sp>
        <p:nvSpPr>
          <p:cNvPr id="15" name="Text 13"/>
          <p:cNvSpPr/>
          <p:nvPr/>
        </p:nvSpPr>
        <p:spPr>
          <a:xfrm>
            <a:off x="6947743" y="3374281"/>
            <a:ext cx="4937760" cy="292100"/>
          </a:xfrm>
          <a:prstGeom prst="rect">
            <a:avLst/>
          </a:prstGeom>
          <a:noFill/>
          <a:ln/>
        </p:spPr>
        <p:txBody>
          <a:bodyPr wrap="square" lIns="0" tIns="0" rIns="0" bIns="0" rtlCol="0" anchor="t"/>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Offline Caching &amp; MMKV State Persistence</a:t>
            </a:r>
            <a:endParaRPr lang="en-US" sz="1500" dirty="0"/>
          </a:p>
        </p:txBody>
      </p:sp>
      <p:sp>
        <p:nvSpPr>
          <p:cNvPr id="16" name="Shape 14"/>
          <p:cNvSpPr/>
          <p:nvPr/>
        </p:nvSpPr>
        <p:spPr>
          <a:xfrm>
            <a:off x="6637834" y="3758456"/>
            <a:ext cx="4741366" cy="0"/>
          </a:xfrm>
          <a:prstGeom prst="line">
            <a:avLst/>
          </a:prstGeom>
          <a:noFill/>
          <a:ln w="6350">
            <a:solidFill>
              <a:srgbClr val="2A2A2E"/>
            </a:solidFill>
            <a:prstDash val="solid"/>
          </a:ln>
        </p:spPr>
      </p:sp>
      <p:sp>
        <p:nvSpPr>
          <p:cNvPr id="17" name="Text 15"/>
          <p:cNvSpPr/>
          <p:nvPr/>
        </p:nvSpPr>
        <p:spPr>
          <a:xfrm>
            <a:off x="6637834" y="392673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04</a:t>
            </a:r>
            <a:endParaRPr lang="en-US" sz="1200" dirty="0"/>
          </a:p>
        </p:txBody>
      </p:sp>
      <p:sp>
        <p:nvSpPr>
          <p:cNvPr id="18" name="Text 16"/>
          <p:cNvSpPr/>
          <p:nvPr/>
        </p:nvSpPr>
        <p:spPr>
          <a:xfrm>
            <a:off x="6947743" y="3875931"/>
            <a:ext cx="4937760" cy="292100"/>
          </a:xfrm>
          <a:prstGeom prst="rect">
            <a:avLst/>
          </a:prstGeom>
          <a:noFill/>
          <a:ln/>
        </p:spPr>
        <p:txBody>
          <a:bodyPr wrap="square" lIns="0" tIns="0" rIns="0" bIns="0" rtlCol="0" anchor="t"/>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In-App Interactive WebViews for Live Demos</a:t>
            </a:r>
            <a:endParaRPr lang="en-US" sz="1500" dirty="0"/>
          </a:p>
        </p:txBody>
      </p:sp>
      <p:sp>
        <p:nvSpPr>
          <p:cNvPr id="19" name="Shape 17"/>
          <p:cNvSpPr/>
          <p:nvPr/>
        </p:nvSpPr>
        <p:spPr>
          <a:xfrm>
            <a:off x="6637834" y="4260106"/>
            <a:ext cx="4741366" cy="0"/>
          </a:xfrm>
          <a:prstGeom prst="line">
            <a:avLst/>
          </a:prstGeom>
          <a:noFill/>
          <a:ln w="6350">
            <a:solidFill>
              <a:srgbClr val="2A2A2E"/>
            </a:solidFill>
            <a:prstDash val="solid"/>
          </a:ln>
        </p:spPr>
      </p:sp>
      <p:sp>
        <p:nvSpPr>
          <p:cNvPr id="20" name="Text 18"/>
          <p:cNvSpPr/>
          <p:nvPr/>
        </p:nvSpPr>
        <p:spPr>
          <a:xfrm>
            <a:off x="6637834" y="442838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4A0"/>
                </a:solidFill>
                <a:latin typeface="Courier New" pitchFamily="34" charset="0"/>
                <a:ea typeface="Courier New" pitchFamily="34" charset="-122"/>
                <a:cs typeface="Courier New" pitchFamily="34" charset="-120"/>
              </a:rPr>
              <a:t>05</a:t>
            </a:r>
            <a:endParaRPr lang="en-US" sz="1200" dirty="0"/>
          </a:p>
        </p:txBody>
      </p:sp>
      <p:sp>
        <p:nvSpPr>
          <p:cNvPr id="21" name="Text 19"/>
          <p:cNvSpPr/>
          <p:nvPr/>
        </p:nvSpPr>
        <p:spPr>
          <a:xfrm>
            <a:off x="6947743" y="4377581"/>
            <a:ext cx="4937760" cy="292100"/>
          </a:xfrm>
          <a:prstGeom prst="rect">
            <a:avLst/>
          </a:prstGeom>
          <a:noFill/>
          <a:ln/>
        </p:spPr>
        <p:txBody>
          <a:bodyPr wrap="square" lIns="0" tIns="0" rIns="0" bIns="0" rtlCol="0" anchor="t"/>
          <a:lstStyle/>
          <a:p>
            <a:pPr algn="l" indent="0" marL="0">
              <a:lnSpc>
                <a:spcPts val="2100"/>
              </a:lnSpc>
              <a:buNone/>
            </a:pPr>
            <a:r>
              <a:rPr lang="en-US" sz="1500" dirty="0">
                <a:solidFill>
                  <a:srgbClr val="F2F2EF"/>
                </a:solidFill>
                <a:latin typeface="Arial" pitchFamily="34" charset="0"/>
                <a:ea typeface="Arial" pitchFamily="34" charset="-122"/>
                <a:cs typeface="Arial" pitchFamily="34" charset="-120"/>
              </a:rPr>
              <a:t>Push Notifications via Firebase Cloud Messaging</a:t>
            </a:r>
            <a:endParaRPr lang="en-US" sz="1500" dirty="0"/>
          </a:p>
        </p:txBody>
      </p:sp>
      <p:sp>
        <p:nvSpPr>
          <p:cNvPr id="22" name="Text 20"/>
          <p:cNvSpPr/>
          <p:nvPr/>
        </p:nvSpPr>
        <p:spPr>
          <a:xfrm>
            <a:off x="812800" y="6236990"/>
            <a:ext cx="365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Arial" pitchFamily="34" charset="0"/>
                <a:ea typeface="Arial" pitchFamily="34" charset="-122"/>
                <a:cs typeface="Arial" pitchFamily="34" charset="-120"/>
              </a:rPr>
              <a:t>Thank you — questions welcome</a:t>
            </a:r>
            <a:endParaRPr lang="en-US" sz="1200" dirty="0"/>
          </a:p>
        </p:txBody>
      </p:sp>
      <p:sp>
        <p:nvSpPr>
          <p:cNvPr id="23" name="Text 21"/>
          <p:cNvSpPr/>
          <p:nvPr/>
        </p:nvSpPr>
        <p:spPr>
          <a:xfrm>
            <a:off x="10738991" y="6236990"/>
            <a:ext cx="6910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F"/>
                </a:solidFill>
                <a:latin typeface="Courier New" pitchFamily="34" charset="0"/>
                <a:ea typeface="Courier New" pitchFamily="34" charset="-122"/>
                <a:cs typeface="Courier New" pitchFamily="34" charset="-120"/>
              </a:rPr>
              <a:t>12 / 12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DevJourney — Project Presentation</dc:title>
  <dc:subject>PptxGenJS Presentation</dc:subject>
  <dc:creator>PptxGenJS</dc:creator>
  <cp:lastModifiedBy>PptxGenJS</cp:lastModifiedBy>
  <cp:revision>1</cp:revision>
  <dcterms:created xsi:type="dcterms:W3CDTF">2026-09-21T08:17:20Z</dcterms:created>
  <dcterms:modified xsi:type="dcterms:W3CDTF">2026-09-21T08:17:20Z</dcterms:modified>
</cp:coreProperties>
</file>